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8" d="100"/>
          <a:sy n="108" d="100"/>
        </p:scale>
        <p:origin x="80" y="1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9309436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CC0000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182880"/>
            <a:ext cx="411480" cy="411480"/>
          </a:xfrm>
          <a:prstGeom prst="rect">
            <a:avLst/>
          </a:prstGeom>
          <a:solidFill>
            <a:srgbClr val="CC0000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828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rial Black" pitchFamily="34" charset="-120"/>
              </a:rPr>
              <a:t>01</a:t>
            </a:r>
            <a:endParaRPr lang="en-US" sz="14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5" name="Text 3"/>
          <p:cNvSpPr/>
          <p:nvPr/>
        </p:nvSpPr>
        <p:spPr>
          <a:xfrm>
            <a:off x="1097280" y="18288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C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rial" pitchFamily="34" charset="-120"/>
              </a:rPr>
              <a:t>长程 RL 训练能力</a:t>
            </a:r>
            <a:endParaRPr lang="en-US" sz="11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6" name="Text 4"/>
          <p:cNvSpPr/>
          <p:nvPr/>
        </p:nvSpPr>
        <p:spPr>
          <a:xfrm>
            <a:off x="548640" y="68580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CC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rial Black" pitchFamily="34" charset="-120"/>
              </a:rPr>
              <a:t>训练-服务上下文压缩对齐</a:t>
            </a:r>
            <a:endParaRPr lang="en-US" sz="24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7" name="Shape 5"/>
          <p:cNvSpPr/>
          <p:nvPr/>
        </p:nvSpPr>
        <p:spPr>
          <a:xfrm>
            <a:off x="548640" y="1325880"/>
            <a:ext cx="8046720" cy="502920"/>
          </a:xfrm>
          <a:prstGeom prst="rect">
            <a:avLst/>
          </a:prstGeom>
          <a:solidFill>
            <a:srgbClr val="FFF0F0"/>
          </a:solidFill>
          <a:ln/>
        </p:spPr>
      </p:sp>
      <p:sp>
        <p:nvSpPr>
          <p:cNvPr id="8" name="Shape 6"/>
          <p:cNvSpPr/>
          <p:nvPr/>
        </p:nvSpPr>
        <p:spPr>
          <a:xfrm>
            <a:off x="548640" y="1325880"/>
            <a:ext cx="54864" cy="502920"/>
          </a:xfrm>
          <a:prstGeom prst="rect">
            <a:avLst/>
          </a:prstGeom>
          <a:solidFill>
            <a:srgbClr val="CC0000"/>
          </a:solidFill>
          <a:ln/>
        </p:spPr>
      </p:sp>
      <p:sp>
        <p:nvSpPr>
          <p:cNvPr id="9" name="Text 7"/>
          <p:cNvSpPr/>
          <p:nvPr/>
        </p:nvSpPr>
        <p:spPr>
          <a:xfrm>
            <a:off x="777240" y="1325880"/>
            <a:ext cx="7635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 err="1">
                <a:solidFill>
                  <a:srgbClr val="CC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rial" pitchFamily="34" charset="-120"/>
              </a:rPr>
              <a:t>核心问题</a:t>
            </a:r>
            <a:r>
              <a:rPr lang="en-US" sz="1200" b="1" dirty="0">
                <a:solidFill>
                  <a:srgbClr val="CC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rial" pitchFamily="34" charset="-120"/>
              </a:rPr>
              <a:t>：</a:t>
            </a:r>
            <a:r>
              <a:rPr lang="zh-CN" altLang="en-US" sz="1200" dirty="0">
                <a:solidFill>
                  <a:srgbClr val="1A1A1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rial" pitchFamily="34" charset="-120"/>
              </a:rPr>
              <a:t>训练目标与推理约束不一致，</a:t>
            </a:r>
            <a:r>
              <a:rPr lang="en-US" sz="1200" dirty="0" err="1">
                <a:solidFill>
                  <a:srgbClr val="1A1A1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rial" pitchFamily="34" charset="-120"/>
              </a:rPr>
              <a:t>服务阶段</a:t>
            </a:r>
            <a:r>
              <a:rPr lang="zh-CN" altLang="en-US" sz="1200" dirty="0">
                <a:solidFill>
                  <a:srgbClr val="1A1A1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rial" pitchFamily="34" charset="-120"/>
              </a:rPr>
              <a:t>通过上下文</a:t>
            </a:r>
            <a:r>
              <a:rPr lang="en-US" sz="1200" dirty="0" err="1">
                <a:solidFill>
                  <a:srgbClr val="1A1A1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rial" pitchFamily="34" charset="-120"/>
              </a:rPr>
              <a:t>压缩来降本增效，但训练阶段未感知压缩策略</a:t>
            </a:r>
            <a:r>
              <a:rPr lang="en-US" sz="1200" dirty="0">
                <a:solidFill>
                  <a:srgbClr val="1A1A1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rial" pitchFamily="34" charset="-120"/>
              </a:rPr>
              <a:t> → 部署时压缩引入精度损失；同时训练阶段空间被低价值 token 占据，浪费算力</a:t>
            </a:r>
            <a:endParaRPr lang="en-US" sz="12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548640" y="1965960"/>
            <a:ext cx="3938312" cy="1508760"/>
          </a:xfrm>
          <a:prstGeom prst="rect">
            <a:avLst/>
          </a:prstGeom>
          <a:solidFill>
            <a:srgbClr val="F5F5F5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48640" y="1965960"/>
            <a:ext cx="3938312" cy="45720"/>
          </a:xfrm>
          <a:prstGeom prst="rect">
            <a:avLst/>
          </a:prstGeom>
          <a:solidFill>
            <a:srgbClr val="CC0000"/>
          </a:solidFill>
          <a:ln/>
        </p:spPr>
      </p:sp>
      <p:sp>
        <p:nvSpPr>
          <p:cNvPr id="12" name="Text 10"/>
          <p:cNvSpPr/>
          <p:nvPr/>
        </p:nvSpPr>
        <p:spPr>
          <a:xfrm>
            <a:off x="685798" y="2075688"/>
            <a:ext cx="3611881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1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rial" pitchFamily="34" charset="-120"/>
              </a:rPr>
              <a:t>压缩感知训练 (Compression-Aware Training)</a:t>
            </a:r>
            <a:endParaRPr lang="en-US" sz="13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685799" y="2404872"/>
            <a:ext cx="352131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4444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rial" pitchFamily="34" charset="-120"/>
              </a:rPr>
              <a:t>训练时</a:t>
            </a:r>
            <a:r>
              <a:rPr lang="zh-CN" altLang="en-US" sz="1000" dirty="0">
                <a:solidFill>
                  <a:srgbClr val="44444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rial" pitchFamily="34" charset="-120"/>
              </a:rPr>
              <a:t>同样采用</a:t>
            </a:r>
            <a:r>
              <a:rPr lang="en-US" sz="1000" dirty="0" err="1">
                <a:solidFill>
                  <a:srgbClr val="44444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rial" pitchFamily="34" charset="-120"/>
              </a:rPr>
              <a:t>服务阶段</a:t>
            </a:r>
            <a:r>
              <a:rPr lang="zh-CN" altLang="en-US" sz="1000" dirty="0">
                <a:solidFill>
                  <a:srgbClr val="44444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rial" pitchFamily="34" charset="-120"/>
              </a:rPr>
              <a:t>的上下文</a:t>
            </a:r>
            <a:r>
              <a:rPr lang="en-US" sz="1000" dirty="0" err="1">
                <a:solidFill>
                  <a:srgbClr val="44444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rial" pitchFamily="34" charset="-120"/>
              </a:rPr>
              <a:t>压缩策略</a:t>
            </a:r>
            <a:r>
              <a:rPr lang="zh-CN" altLang="en-US" sz="1000" dirty="0">
                <a:solidFill>
                  <a:srgbClr val="44444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rial" pitchFamily="34" charset="-120"/>
              </a:rPr>
              <a:t>（如</a:t>
            </a:r>
            <a:r>
              <a:rPr lang="en-US" altLang="zh-CN" sz="1000" dirty="0">
                <a:solidFill>
                  <a:srgbClr val="44444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rial" pitchFamily="34" charset="-120"/>
              </a:rPr>
              <a:t>truncation/summarization/KV pruning</a:t>
            </a:r>
            <a:r>
              <a:rPr lang="zh-CN" altLang="en-US" sz="1000" dirty="0">
                <a:solidFill>
                  <a:srgbClr val="44444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rial" pitchFamily="34" charset="-120"/>
              </a:rPr>
              <a:t>）</a:t>
            </a:r>
            <a:r>
              <a:rPr lang="en-US" sz="1000" dirty="0">
                <a:solidFill>
                  <a:srgbClr val="44444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rial" pitchFamily="34" charset="-120"/>
              </a:rPr>
              <a:t>，</a:t>
            </a:r>
            <a:r>
              <a:rPr lang="en-US" sz="1000" dirty="0" err="1">
                <a:solidFill>
                  <a:srgbClr val="44444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rial" pitchFamily="34" charset="-120"/>
              </a:rPr>
              <a:t>让模型在训练时就学会</a:t>
            </a:r>
            <a:r>
              <a:rPr lang="zh-CN" altLang="en-US" sz="1000" dirty="0">
                <a:solidFill>
                  <a:srgbClr val="44444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rial" pitchFamily="34" charset="-120"/>
              </a:rPr>
              <a:t>选择</a:t>
            </a:r>
            <a:r>
              <a:rPr lang="en-US" sz="1000" dirty="0" err="1">
                <a:solidFill>
                  <a:srgbClr val="44444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rial" pitchFamily="34" charset="-120"/>
              </a:rPr>
              <a:t>压缩</a:t>
            </a:r>
            <a:r>
              <a:rPr lang="zh-CN" altLang="en-US" sz="1000" dirty="0">
                <a:solidFill>
                  <a:srgbClr val="44444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rial" pitchFamily="34" charset="-120"/>
              </a:rPr>
              <a:t>策略并且在压缩</a:t>
            </a:r>
            <a:r>
              <a:rPr lang="en-US" sz="1000" dirty="0" err="1">
                <a:solidFill>
                  <a:srgbClr val="44444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rial" pitchFamily="34" charset="-120"/>
              </a:rPr>
              <a:t>后的</a:t>
            </a:r>
            <a:r>
              <a:rPr lang="zh-CN" altLang="en-US" sz="1000" dirty="0">
                <a:solidFill>
                  <a:srgbClr val="44444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rial" pitchFamily="34" charset="-120"/>
              </a:rPr>
              <a:t>上下文上</a:t>
            </a:r>
            <a:r>
              <a:rPr lang="en-US" sz="1000" dirty="0" err="1">
                <a:solidFill>
                  <a:srgbClr val="44444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rial" pitchFamily="34" charset="-120"/>
              </a:rPr>
              <a:t>稳定</a:t>
            </a:r>
            <a:r>
              <a:rPr lang="zh-CN" altLang="en-US" sz="1000" dirty="0">
                <a:solidFill>
                  <a:srgbClr val="44444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rial" pitchFamily="34" charset="-120"/>
              </a:rPr>
              <a:t>推理</a:t>
            </a:r>
            <a:r>
              <a:rPr lang="en-US" sz="1000" dirty="0">
                <a:solidFill>
                  <a:srgbClr val="44444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rial" pitchFamily="34" charset="-120"/>
              </a:rPr>
              <a:t>。</a:t>
            </a:r>
            <a:r>
              <a:rPr lang="en-US" sz="1000" dirty="0" err="1">
                <a:solidFill>
                  <a:srgbClr val="44444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rial" pitchFamily="34" charset="-120"/>
              </a:rPr>
              <a:t>服务时压缩不再引入精度损失</a:t>
            </a:r>
            <a:r>
              <a:rPr lang="en-US" sz="1000" dirty="0">
                <a:solidFill>
                  <a:srgbClr val="44444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rial" pitchFamily="34" charset="-120"/>
              </a:rPr>
              <a:t>。</a:t>
            </a:r>
            <a:endParaRPr lang="en-US" sz="10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4648692" y="1965960"/>
            <a:ext cx="3938313" cy="1508760"/>
          </a:xfrm>
          <a:prstGeom prst="rect">
            <a:avLst/>
          </a:prstGeom>
          <a:solidFill>
            <a:srgbClr val="F5F5F5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648692" y="1965960"/>
            <a:ext cx="3938313" cy="45720"/>
          </a:xfrm>
          <a:prstGeom prst="rect">
            <a:avLst/>
          </a:prstGeom>
          <a:solidFill>
            <a:srgbClr val="CC0000"/>
          </a:solidFill>
          <a:ln/>
        </p:spPr>
      </p:sp>
      <p:sp>
        <p:nvSpPr>
          <p:cNvPr id="16" name="Text 14"/>
          <p:cNvSpPr/>
          <p:nvPr/>
        </p:nvSpPr>
        <p:spPr>
          <a:xfrm>
            <a:off x="4928530" y="2075688"/>
            <a:ext cx="35213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1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rial" pitchFamily="34" charset="-120"/>
              </a:rPr>
              <a:t>高价值 Token 空间重分配</a:t>
            </a:r>
            <a:endParaRPr lang="en-US" sz="13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4928530" y="2404872"/>
            <a:ext cx="352131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4444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rial" pitchFamily="34" charset="-120"/>
              </a:rPr>
              <a:t>压缩低价值 token（重复模板、padding 等）的 KV </a:t>
            </a:r>
            <a:r>
              <a:rPr lang="en-US" sz="1000" dirty="0" err="1">
                <a:solidFill>
                  <a:srgbClr val="44444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rial" pitchFamily="34" charset="-120"/>
              </a:rPr>
              <a:t>占用，将腐出的空间分配给关键决策步骤和工具调用结果。训练时通过</a:t>
            </a:r>
            <a:r>
              <a:rPr lang="en-US" sz="1000" dirty="0">
                <a:solidFill>
                  <a:srgbClr val="44444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rial" pitchFamily="34" charset="-120"/>
              </a:rPr>
              <a:t> </a:t>
            </a:r>
            <a:r>
              <a:rPr lang="en-US" sz="1000" dirty="0" err="1">
                <a:solidFill>
                  <a:srgbClr val="44444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rial" pitchFamily="34" charset="-120"/>
              </a:rPr>
              <a:t>动态预算识别高价值段</a:t>
            </a:r>
            <a:r>
              <a:rPr lang="en-US" sz="1000" dirty="0">
                <a:solidFill>
                  <a:srgbClr val="44444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rial" pitchFamily="34" charset="-120"/>
              </a:rPr>
              <a:t>。</a:t>
            </a:r>
            <a:r>
              <a:rPr lang="zh-CN" altLang="en-US" sz="1000" dirty="0">
                <a:solidFill>
                  <a:srgbClr val="44444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rial" pitchFamily="34" charset="-120"/>
              </a:rPr>
              <a:t>自固定的上下文预算下最大化有效信息密度</a:t>
            </a:r>
            <a:r>
              <a:rPr lang="en-US" sz="1000" dirty="0">
                <a:solidFill>
                  <a:srgbClr val="44444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rial" pitchFamily="34" charset="-120"/>
              </a:rPr>
              <a:t>。</a:t>
            </a:r>
            <a:endParaRPr lang="en-US" sz="10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2" name="Shape 20"/>
          <p:cNvSpPr/>
          <p:nvPr/>
        </p:nvSpPr>
        <p:spPr>
          <a:xfrm>
            <a:off x="548640" y="3657600"/>
            <a:ext cx="8046720" cy="731520"/>
          </a:xfrm>
          <a:prstGeom prst="rect">
            <a:avLst/>
          </a:prstGeom>
          <a:solidFill>
            <a:srgbClr val="FFF0F0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548640" y="3657600"/>
            <a:ext cx="54864" cy="731520"/>
          </a:xfrm>
          <a:prstGeom prst="rect">
            <a:avLst/>
          </a:prstGeom>
          <a:solidFill>
            <a:srgbClr val="2E8B57"/>
          </a:solidFill>
          <a:ln/>
        </p:spPr>
      </p:sp>
      <p:sp>
        <p:nvSpPr>
          <p:cNvPr id="24" name="Text 22"/>
          <p:cNvSpPr/>
          <p:nvPr/>
        </p:nvSpPr>
        <p:spPr>
          <a:xfrm>
            <a:off x="777240" y="3675888"/>
            <a:ext cx="7635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E8B57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rial" pitchFamily="34" charset="-120"/>
              </a:rPr>
              <a:t>预期收益：</a:t>
            </a:r>
            <a:r>
              <a:rPr lang="en-US" sz="1300" b="1" dirty="0">
                <a:solidFill>
                  <a:srgbClr val="1A1A1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rial" pitchFamily="34" charset="-120"/>
              </a:rPr>
              <a:t>服务压缩零精度损失；训练算力利用率提升 20–40%（高价值 token 占比提升）</a:t>
            </a:r>
            <a:endParaRPr lang="en-US" sz="13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777240" y="4005072"/>
            <a:ext cx="7635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 err="1">
                <a:solidFill>
                  <a:srgbClr val="666666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rial" pitchFamily="34" charset="-120"/>
              </a:rPr>
              <a:t>无对齐基线：服务阶段压缩</a:t>
            </a:r>
            <a:r>
              <a:rPr lang="en-US" sz="1000" dirty="0">
                <a:solidFill>
                  <a:srgbClr val="666666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rial" pitchFamily="34" charset="-120"/>
              </a:rPr>
              <a:t> </a:t>
            </a:r>
            <a:r>
              <a:rPr lang="en-US" sz="1000" dirty="0" err="1">
                <a:solidFill>
                  <a:srgbClr val="666666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rial" pitchFamily="34" charset="-120"/>
              </a:rPr>
              <a:t>通常引入</a:t>
            </a:r>
            <a:r>
              <a:rPr lang="en-US" sz="1000" dirty="0">
                <a:solidFill>
                  <a:srgbClr val="666666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rial" pitchFamily="34" charset="-120"/>
              </a:rPr>
              <a:t> 2–5% 精度下降；压缩感知训练后可降至 &lt;0.5%；同时训练阶段通过重分配空间给高价值 token，整体能力提升显著</a:t>
            </a:r>
            <a:endParaRPr lang="en-US" sz="10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548640" y="4526280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CC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rial" pitchFamily="34" charset="-120"/>
              </a:rPr>
              <a:t>参考来源</a:t>
            </a:r>
            <a:endParaRPr lang="en-US" sz="9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548640" y="4727448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00" dirty="0" err="1">
                <a:solidFill>
                  <a:srgbClr val="999999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rial" pitchFamily="34" charset="-120"/>
              </a:rPr>
              <a:t>Claude（Anthropic</a:t>
            </a:r>
            <a:r>
              <a:rPr lang="en-US" sz="800" dirty="0">
                <a:solidFill>
                  <a:srgbClr val="999999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rial" pitchFamily="34" charset="-120"/>
              </a:rPr>
              <a:t>, 2024–2025） — Rolling Window + Thinking</a:t>
            </a:r>
            <a:r>
              <a:rPr lang="zh-CN" altLang="en-US" sz="800" dirty="0">
                <a:solidFill>
                  <a:srgbClr val="999999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rial" pitchFamily="34" charset="-120"/>
              </a:rPr>
              <a:t>剥离 </a:t>
            </a:r>
            <a:r>
              <a:rPr lang="en-US" altLang="zh-CN" sz="800" dirty="0">
                <a:solidFill>
                  <a:srgbClr val="999999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rial" pitchFamily="34" charset="-120"/>
              </a:rPr>
              <a:t>+ </a:t>
            </a:r>
            <a:r>
              <a:rPr lang="zh-CN" altLang="en-US" sz="800" dirty="0">
                <a:solidFill>
                  <a:srgbClr val="999999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rial" pitchFamily="34" charset="-120"/>
              </a:rPr>
              <a:t>分层 </a:t>
            </a:r>
            <a:r>
              <a:rPr lang="en-US" altLang="zh-CN" sz="800" dirty="0">
                <a:solidFill>
                  <a:srgbClr val="999999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rial" pitchFamily="34" charset="-120"/>
              </a:rPr>
              <a:t>|</a:t>
            </a:r>
            <a:r>
              <a:rPr lang="zh-CN" altLang="en-US" sz="800" dirty="0">
                <a:solidFill>
                  <a:srgbClr val="999999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rial" pitchFamily="34" charset="-120"/>
              </a:rPr>
              <a:t> </a:t>
            </a:r>
            <a:r>
              <a:rPr lang="en-US" sz="800" dirty="0" err="1">
                <a:solidFill>
                  <a:srgbClr val="999999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rial" pitchFamily="34" charset="-120"/>
              </a:rPr>
              <a:t>MemoryACON</a:t>
            </a:r>
            <a:r>
              <a:rPr lang="en-US" sz="800" dirty="0">
                <a:solidFill>
                  <a:srgbClr val="999999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rial" pitchFamily="34" charset="-120"/>
              </a:rPr>
              <a:t> / KLong（2025–2026） — </a:t>
            </a:r>
            <a:r>
              <a:rPr lang="zh-CN" altLang="en-US" sz="800" dirty="0">
                <a:solidFill>
                  <a:srgbClr val="999999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rial" pitchFamily="34" charset="-120"/>
              </a:rPr>
              <a:t>可学习的上下文压缩（</a:t>
            </a:r>
            <a:r>
              <a:rPr lang="en-US" sz="800" dirty="0">
                <a:solidFill>
                  <a:srgbClr val="999999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rial" pitchFamily="34" charset="-120"/>
              </a:rPr>
              <a:t>Compression Policy）| </a:t>
            </a:r>
            <a:r>
              <a:rPr lang="en-US" sz="800" dirty="0" err="1">
                <a:solidFill>
                  <a:srgbClr val="999999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rial" pitchFamily="34" charset="-120"/>
              </a:rPr>
              <a:t>AgentOCR</a:t>
            </a:r>
            <a:r>
              <a:rPr lang="en-US" sz="800" dirty="0">
                <a:solidFill>
                  <a:srgbClr val="999999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rial" pitchFamily="34" charset="-120"/>
              </a:rPr>
              <a:t> / Active Compression（2026） — </a:t>
            </a:r>
            <a:r>
              <a:rPr lang="zh-CN" altLang="en-US" sz="800" dirty="0">
                <a:solidFill>
                  <a:srgbClr val="999999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rial" pitchFamily="34" charset="-120"/>
              </a:rPr>
              <a:t>压缩进入</a:t>
            </a:r>
            <a:r>
              <a:rPr lang="en-US" sz="800" dirty="0">
                <a:solidFill>
                  <a:srgbClr val="999999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rial" pitchFamily="34" charset="-120"/>
              </a:rPr>
              <a:t>RL</a:t>
            </a:r>
            <a:r>
              <a:rPr lang="zh-CN" altLang="en-US" sz="800" dirty="0">
                <a:solidFill>
                  <a:srgbClr val="999999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rial" pitchFamily="34" charset="-120"/>
              </a:rPr>
              <a:t>决策（</a:t>
            </a:r>
            <a:r>
              <a:rPr lang="en-US" sz="800" dirty="0">
                <a:solidFill>
                  <a:srgbClr val="999999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rial" pitchFamily="34" charset="-120"/>
              </a:rPr>
              <a:t>Memory = Action）</a:t>
            </a:r>
            <a:endParaRPr lang="en-US" sz="8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5CD1A8AF-6357-4152-B577-9A256A7D8E61}"/>
              </a:ext>
            </a:extLst>
          </p:cNvPr>
          <p:cNvSpPr txBox="1"/>
          <p:nvPr/>
        </p:nvSpPr>
        <p:spPr>
          <a:xfrm>
            <a:off x="7805821" y="154858"/>
            <a:ext cx="88998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Beta-CA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CC0000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182880"/>
            <a:ext cx="411480" cy="411480"/>
          </a:xfrm>
          <a:prstGeom prst="rect">
            <a:avLst/>
          </a:prstGeom>
          <a:solidFill>
            <a:srgbClr val="CC0000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828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rial Black" pitchFamily="34" charset="-120"/>
              </a:rPr>
              <a:t>01</a:t>
            </a:r>
            <a:endParaRPr lang="en-US" sz="14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5" name="Text 3"/>
          <p:cNvSpPr/>
          <p:nvPr/>
        </p:nvSpPr>
        <p:spPr>
          <a:xfrm>
            <a:off x="1097280" y="18288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C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rial" pitchFamily="34" charset="-120"/>
              </a:rPr>
              <a:t>长程 RL 训练能力</a:t>
            </a:r>
            <a:endParaRPr lang="en-US" sz="11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6" name="Text 4"/>
          <p:cNvSpPr/>
          <p:nvPr/>
        </p:nvSpPr>
        <p:spPr>
          <a:xfrm>
            <a:off x="548640" y="68580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CC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rial Black" pitchFamily="34" charset="-120"/>
              </a:rPr>
              <a:t>多步信用分配优化</a:t>
            </a:r>
            <a:endParaRPr lang="en-US" sz="24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7" name="Shape 5"/>
          <p:cNvSpPr/>
          <p:nvPr/>
        </p:nvSpPr>
        <p:spPr>
          <a:xfrm>
            <a:off x="548640" y="1325880"/>
            <a:ext cx="8046720" cy="502920"/>
          </a:xfrm>
          <a:prstGeom prst="rect">
            <a:avLst/>
          </a:prstGeom>
          <a:solidFill>
            <a:srgbClr val="FFF0F0"/>
          </a:solidFill>
          <a:ln/>
        </p:spPr>
      </p:sp>
      <p:sp>
        <p:nvSpPr>
          <p:cNvPr id="8" name="Shape 6"/>
          <p:cNvSpPr/>
          <p:nvPr/>
        </p:nvSpPr>
        <p:spPr>
          <a:xfrm>
            <a:off x="548640" y="1325880"/>
            <a:ext cx="54864" cy="502920"/>
          </a:xfrm>
          <a:prstGeom prst="rect">
            <a:avLst/>
          </a:prstGeom>
          <a:solidFill>
            <a:srgbClr val="CC0000"/>
          </a:solidFill>
          <a:ln/>
        </p:spPr>
      </p:sp>
      <p:sp>
        <p:nvSpPr>
          <p:cNvPr id="9" name="Text 7"/>
          <p:cNvSpPr/>
          <p:nvPr/>
        </p:nvSpPr>
        <p:spPr>
          <a:xfrm>
            <a:off x="777240" y="1325880"/>
            <a:ext cx="7635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 err="1">
                <a:solidFill>
                  <a:srgbClr val="CC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rial" pitchFamily="34" charset="-120"/>
              </a:rPr>
              <a:t>核心问题</a:t>
            </a:r>
            <a:r>
              <a:rPr lang="en-US" sz="1200" b="1" dirty="0">
                <a:solidFill>
                  <a:srgbClr val="CC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rial" pitchFamily="34" charset="-120"/>
              </a:rPr>
              <a:t>：</a:t>
            </a:r>
            <a:r>
              <a:rPr lang="zh-CN" altLang="en-US" sz="1200" dirty="0">
                <a:solidFill>
                  <a:srgbClr val="1A1A1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rial" pitchFamily="34" charset="-120"/>
              </a:rPr>
              <a:t>在长程</a:t>
            </a:r>
            <a:r>
              <a:rPr lang="en-US" altLang="zh-CN" sz="1200" dirty="0">
                <a:solidFill>
                  <a:srgbClr val="1A1A1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rial" pitchFamily="34" charset="-120"/>
              </a:rPr>
              <a:t>RL</a:t>
            </a:r>
            <a:r>
              <a:rPr lang="zh-CN" altLang="en-US" sz="1200" dirty="0">
                <a:solidFill>
                  <a:srgbClr val="1A1A1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rial" pitchFamily="34" charset="-120"/>
              </a:rPr>
              <a:t>训练过程中，奖励信号稀疏且延迟，</a:t>
            </a:r>
            <a:r>
              <a:rPr lang="en-US" sz="1200" dirty="0">
                <a:solidFill>
                  <a:srgbClr val="1A1A1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rial" pitchFamily="34" charset="-120"/>
              </a:rPr>
              <a:t>Episode-</a:t>
            </a:r>
            <a:r>
              <a:rPr lang="en-US" altLang="zh-CN" sz="1200" dirty="0">
                <a:solidFill>
                  <a:srgbClr val="1A1A1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rial" pitchFamily="34" charset="-120"/>
              </a:rPr>
              <a:t>level </a:t>
            </a:r>
            <a:r>
              <a:rPr lang="en-US" sz="1200" dirty="0" err="1">
                <a:solidFill>
                  <a:srgbClr val="1A1A1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rial" pitchFamily="34" charset="-120"/>
              </a:rPr>
              <a:t>奖励无法定位关键</a:t>
            </a:r>
            <a:r>
              <a:rPr lang="zh-CN" altLang="en-US" sz="1200" dirty="0">
                <a:solidFill>
                  <a:srgbClr val="1A1A1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rial" pitchFamily="34" charset="-120"/>
              </a:rPr>
              <a:t>步骤</a:t>
            </a:r>
            <a:r>
              <a:rPr lang="en-US" sz="1200" dirty="0">
                <a:solidFill>
                  <a:srgbClr val="1A1A1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rial" pitchFamily="34" charset="-120"/>
              </a:rPr>
              <a:t>；Token-level </a:t>
            </a:r>
            <a:r>
              <a:rPr lang="zh-CN" altLang="en-US" sz="1200" dirty="0">
                <a:solidFill>
                  <a:srgbClr val="1A1A1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rial" pitchFamily="34" charset="-120"/>
              </a:rPr>
              <a:t>粒度</a:t>
            </a:r>
            <a:r>
              <a:rPr lang="en-US" sz="1200" dirty="0" err="1">
                <a:solidFill>
                  <a:srgbClr val="1A1A1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rial" pitchFamily="34" charset="-120"/>
              </a:rPr>
              <a:t>太细噪声大</a:t>
            </a:r>
            <a:r>
              <a:rPr lang="zh-CN" altLang="en-US" sz="1200" dirty="0">
                <a:solidFill>
                  <a:srgbClr val="1A1A1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rial" pitchFamily="34" charset="-120"/>
              </a:rPr>
              <a:t>、方差高</a:t>
            </a:r>
            <a:r>
              <a:rPr lang="en-US" sz="1200" dirty="0">
                <a:solidFill>
                  <a:srgbClr val="1A1A1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rial" pitchFamily="34" charset="-120"/>
              </a:rPr>
              <a:t>；Step-level 需要昂贵标注</a:t>
            </a:r>
            <a:endParaRPr lang="en-US" sz="12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548640" y="1965960"/>
            <a:ext cx="2590800" cy="1508760"/>
          </a:xfrm>
          <a:prstGeom prst="rect">
            <a:avLst/>
          </a:prstGeom>
          <a:solidFill>
            <a:srgbClr val="F5F5F5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48640" y="1965960"/>
            <a:ext cx="2590800" cy="45720"/>
          </a:xfrm>
          <a:prstGeom prst="rect">
            <a:avLst/>
          </a:prstGeom>
          <a:solidFill>
            <a:srgbClr val="CC0000"/>
          </a:solidFill>
          <a:ln/>
        </p:spPr>
      </p:sp>
      <p:sp>
        <p:nvSpPr>
          <p:cNvPr id="12" name="Text 10"/>
          <p:cNvSpPr/>
          <p:nvPr/>
        </p:nvSpPr>
        <p:spPr>
          <a:xfrm>
            <a:off x="685800" y="2075688"/>
            <a:ext cx="2316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1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rial" pitchFamily="34" charset="-120"/>
              </a:rPr>
              <a:t>iStar (Step-level 隐式奖励)</a:t>
            </a:r>
            <a:endParaRPr lang="en-US" sz="13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685800" y="2404872"/>
            <a:ext cx="23164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 err="1">
                <a:solidFill>
                  <a:srgbClr val="44444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rial" pitchFamily="34" charset="-120"/>
              </a:rPr>
              <a:t>从轨迹偏好中学习隐式</a:t>
            </a:r>
            <a:r>
              <a:rPr lang="en-US" altLang="zh-CN" sz="1000" dirty="0" err="1">
                <a:solidFill>
                  <a:srgbClr val="44444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rial" pitchFamily="34" charset="-120"/>
              </a:rPr>
              <a:t>step</a:t>
            </a:r>
            <a:r>
              <a:rPr lang="en-US" altLang="zh-CN" sz="1000" dirty="0">
                <a:solidFill>
                  <a:srgbClr val="44444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rial" pitchFamily="34" charset="-120"/>
              </a:rPr>
              <a:t>-level </a:t>
            </a:r>
            <a:r>
              <a:rPr lang="en-US" sz="1000" dirty="0" err="1">
                <a:solidFill>
                  <a:srgbClr val="44444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rial" pitchFamily="34" charset="-120"/>
              </a:rPr>
              <a:t>奖励</a:t>
            </a:r>
            <a:r>
              <a:rPr lang="zh-CN" altLang="en-US" sz="1000" dirty="0">
                <a:solidFill>
                  <a:srgbClr val="44444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rial" pitchFamily="34" charset="-120"/>
              </a:rPr>
              <a:t>（无需显示标注）</a:t>
            </a:r>
            <a:r>
              <a:rPr lang="en-US" sz="1000" dirty="0">
                <a:solidFill>
                  <a:srgbClr val="44444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rial" pitchFamily="34" charset="-120"/>
              </a:rPr>
              <a:t>。</a:t>
            </a:r>
            <a:r>
              <a:rPr lang="zh-CN" altLang="en-US" sz="1000" dirty="0">
                <a:solidFill>
                  <a:srgbClr val="44444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rial" pitchFamily="34" charset="-120"/>
              </a:rPr>
              <a:t>结合</a:t>
            </a:r>
            <a:r>
              <a:rPr lang="en-US" sz="1000" dirty="0">
                <a:solidFill>
                  <a:srgbClr val="44444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rial" pitchFamily="34" charset="-120"/>
              </a:rPr>
              <a:t> episode + step </a:t>
            </a:r>
            <a:r>
              <a:rPr lang="en-US" sz="1000" dirty="0" err="1">
                <a:solidFill>
                  <a:srgbClr val="44444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rial" pitchFamily="34" charset="-120"/>
              </a:rPr>
              <a:t>优势估计</a:t>
            </a:r>
            <a:r>
              <a:rPr lang="zh-CN" altLang="en-US" sz="1000" dirty="0">
                <a:solidFill>
                  <a:srgbClr val="44444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rial" pitchFamily="34" charset="-120"/>
              </a:rPr>
              <a:t>，提高长程稳定性</a:t>
            </a:r>
            <a:r>
              <a:rPr lang="en-US" sz="1000" dirty="0">
                <a:solidFill>
                  <a:srgbClr val="44444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rial" pitchFamily="34" charset="-120"/>
              </a:rPr>
              <a:t>。</a:t>
            </a:r>
            <a:r>
              <a:rPr lang="zh-CN" altLang="en-US" sz="1000" dirty="0">
                <a:solidFill>
                  <a:srgbClr val="44444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rial" pitchFamily="34" charset="-120"/>
              </a:rPr>
              <a:t>是用于开放环境与</a:t>
            </a:r>
            <a:r>
              <a:rPr lang="en-US" sz="1000" dirty="0" err="1">
                <a:solidFill>
                  <a:srgbClr val="44444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rial" pitchFamily="34" charset="-120"/>
              </a:rPr>
              <a:t>多轮场景</a:t>
            </a:r>
            <a:r>
              <a:rPr lang="zh-CN" altLang="en-US" sz="1000" dirty="0">
                <a:solidFill>
                  <a:srgbClr val="44444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rial" pitchFamily="34" charset="-120"/>
              </a:rPr>
              <a:t>场景</a:t>
            </a:r>
            <a:r>
              <a:rPr lang="en-US" sz="1000" dirty="0">
                <a:solidFill>
                  <a:srgbClr val="44444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rial" pitchFamily="34" charset="-120"/>
              </a:rPr>
              <a:t>。</a:t>
            </a:r>
            <a:endParaRPr lang="en-US" sz="10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3276600" y="1965960"/>
            <a:ext cx="2590800" cy="1508760"/>
          </a:xfrm>
          <a:prstGeom prst="rect">
            <a:avLst/>
          </a:prstGeom>
          <a:solidFill>
            <a:srgbClr val="F5F5F5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276600" y="1965960"/>
            <a:ext cx="2590800" cy="45720"/>
          </a:xfrm>
          <a:prstGeom prst="rect">
            <a:avLst/>
          </a:prstGeom>
          <a:solidFill>
            <a:srgbClr val="CC0000"/>
          </a:solidFill>
          <a:ln/>
        </p:spPr>
      </p:sp>
      <p:sp>
        <p:nvSpPr>
          <p:cNvPr id="16" name="Text 14"/>
          <p:cNvSpPr/>
          <p:nvPr/>
        </p:nvSpPr>
        <p:spPr>
          <a:xfrm>
            <a:off x="3413760" y="2075688"/>
            <a:ext cx="2316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1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rial" pitchFamily="34" charset="-120"/>
              </a:rPr>
              <a:t>PRIME (在线隐式 PRM)</a:t>
            </a:r>
            <a:endParaRPr lang="en-US" sz="13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3413760" y="2404872"/>
            <a:ext cx="23164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4444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rial" pitchFamily="34" charset="-120"/>
              </a:rPr>
              <a:t>无需过程标注，基于 outcome label 在线训练隐式 PRM。</a:t>
            </a:r>
            <a:r>
              <a:rPr lang="zh-CN" altLang="en-US" sz="1000" dirty="0">
                <a:solidFill>
                  <a:srgbClr val="44444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rial" pitchFamily="34" charset="-120"/>
              </a:rPr>
              <a:t>避免人工</a:t>
            </a:r>
            <a:r>
              <a:rPr lang="en-US" altLang="zh-CN" sz="1000" dirty="0">
                <a:solidFill>
                  <a:srgbClr val="44444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rial" pitchFamily="34" charset="-120"/>
              </a:rPr>
              <a:t>step</a:t>
            </a:r>
            <a:r>
              <a:rPr lang="zh-CN" altLang="en-US" sz="1000" dirty="0">
                <a:solidFill>
                  <a:srgbClr val="44444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rial" pitchFamily="34" charset="-120"/>
              </a:rPr>
              <a:t>标注，提升</a:t>
            </a:r>
            <a:r>
              <a:rPr lang="en-US" sz="1000" dirty="0">
                <a:solidFill>
                  <a:srgbClr val="44444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rial" pitchFamily="34" charset="-120"/>
              </a:rPr>
              <a:t>2.5x </a:t>
            </a:r>
            <a:r>
              <a:rPr lang="en-US" sz="1000" dirty="0" err="1">
                <a:solidFill>
                  <a:srgbClr val="44444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rial" pitchFamily="34" charset="-120"/>
              </a:rPr>
              <a:t>样本效率。在线更新避免静态</a:t>
            </a:r>
            <a:r>
              <a:rPr lang="en-US" sz="1000" dirty="0">
                <a:solidFill>
                  <a:srgbClr val="44444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rial" pitchFamily="34" charset="-120"/>
              </a:rPr>
              <a:t> PRM 的 distribution shift 和 reward hacking。</a:t>
            </a:r>
            <a:endParaRPr lang="en-US" sz="10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6004560" y="1965960"/>
            <a:ext cx="2590800" cy="1508760"/>
          </a:xfrm>
          <a:prstGeom prst="rect">
            <a:avLst/>
          </a:prstGeom>
          <a:solidFill>
            <a:srgbClr val="F5F5F5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004560" y="1965960"/>
            <a:ext cx="2590800" cy="45720"/>
          </a:xfrm>
          <a:prstGeom prst="rect">
            <a:avLst/>
          </a:prstGeom>
          <a:solidFill>
            <a:srgbClr val="CC0000"/>
          </a:solidFill>
          <a:ln/>
        </p:spPr>
      </p:sp>
      <p:sp>
        <p:nvSpPr>
          <p:cNvPr id="20" name="Text 18"/>
          <p:cNvSpPr/>
          <p:nvPr/>
        </p:nvSpPr>
        <p:spPr>
          <a:xfrm>
            <a:off x="6141720" y="2075688"/>
            <a:ext cx="2316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1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rial" pitchFamily="34" charset="-120"/>
              </a:rPr>
              <a:t>Turn-PPO (回合级 MDP)</a:t>
            </a:r>
            <a:endParaRPr lang="en-US" sz="13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6141720" y="2404872"/>
            <a:ext cx="23164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4444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rial" pitchFamily="34" charset="-120"/>
              </a:rPr>
              <a:t>将多轮交互建模为 Turn-level MDP（而非 token-level）。</a:t>
            </a:r>
            <a:r>
              <a:rPr lang="en-US" sz="1000" dirty="0" err="1">
                <a:solidFill>
                  <a:srgbClr val="44444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rial" pitchFamily="34" charset="-120"/>
              </a:rPr>
              <a:t>回合级优势估计大幅降低长程梯度方差</a:t>
            </a:r>
            <a:r>
              <a:rPr lang="en-US" sz="1000" dirty="0">
                <a:solidFill>
                  <a:srgbClr val="44444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rial" pitchFamily="34" charset="-120"/>
              </a:rPr>
              <a:t>。</a:t>
            </a:r>
            <a:r>
              <a:rPr lang="zh-CN" altLang="en-US" sz="1000" dirty="0">
                <a:solidFill>
                  <a:srgbClr val="44444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rial" pitchFamily="34" charset="-120"/>
              </a:rPr>
              <a:t>在长程任务中（</a:t>
            </a:r>
            <a:r>
              <a:rPr lang="en-US" sz="1000" dirty="0" err="1">
                <a:solidFill>
                  <a:srgbClr val="44444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rial" pitchFamily="34" charset="-120"/>
              </a:rPr>
              <a:t>WebShop</a:t>
            </a:r>
            <a:r>
              <a:rPr lang="en-US" sz="1000" dirty="0">
                <a:solidFill>
                  <a:srgbClr val="44444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rial" pitchFamily="34" charset="-120"/>
              </a:rPr>
              <a:t> / Sokoban </a:t>
            </a:r>
            <a:r>
              <a:rPr lang="zh-CN" altLang="en-US" sz="1000" dirty="0">
                <a:solidFill>
                  <a:srgbClr val="44444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rial" pitchFamily="34" charset="-120"/>
              </a:rPr>
              <a:t>）</a:t>
            </a:r>
            <a:r>
              <a:rPr lang="en-US" sz="1000" dirty="0" err="1">
                <a:solidFill>
                  <a:srgbClr val="44444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rial" pitchFamily="34" charset="-120"/>
              </a:rPr>
              <a:t>更稳定</a:t>
            </a:r>
            <a:r>
              <a:rPr lang="en-US" sz="1000" dirty="0">
                <a:solidFill>
                  <a:srgbClr val="44444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rial" pitchFamily="34" charset="-120"/>
              </a:rPr>
              <a:t>。</a:t>
            </a:r>
            <a:endParaRPr lang="en-US" sz="10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2" name="Shape 20"/>
          <p:cNvSpPr/>
          <p:nvPr/>
        </p:nvSpPr>
        <p:spPr>
          <a:xfrm>
            <a:off x="548640" y="3657600"/>
            <a:ext cx="8046720" cy="731520"/>
          </a:xfrm>
          <a:prstGeom prst="rect">
            <a:avLst/>
          </a:prstGeom>
          <a:solidFill>
            <a:srgbClr val="FFF0F0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548640" y="3657600"/>
            <a:ext cx="54864" cy="731520"/>
          </a:xfrm>
          <a:prstGeom prst="rect">
            <a:avLst/>
          </a:prstGeom>
          <a:solidFill>
            <a:srgbClr val="2E8B57"/>
          </a:solidFill>
          <a:ln/>
        </p:spPr>
      </p:sp>
      <p:sp>
        <p:nvSpPr>
          <p:cNvPr id="24" name="Text 22"/>
          <p:cNvSpPr/>
          <p:nvPr/>
        </p:nvSpPr>
        <p:spPr>
          <a:xfrm>
            <a:off x="777240" y="3675888"/>
            <a:ext cx="7635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E8B57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rial" pitchFamily="34" charset="-120"/>
              </a:rPr>
              <a:t>预期收益：</a:t>
            </a:r>
            <a:r>
              <a:rPr lang="en-US" sz="1300" b="1" dirty="0">
                <a:solidFill>
                  <a:srgbClr val="1A1A1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rial" pitchFamily="34" charset="-120"/>
              </a:rPr>
              <a:t>PRIME: 2.5x 样本效率；Turn-PPO: 梯度方差降低一个数量级</a:t>
            </a:r>
            <a:endParaRPr lang="en-US" sz="13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777240" y="4005072"/>
            <a:ext cx="7635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66666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rial" pitchFamily="34" charset="-120"/>
              </a:rPr>
              <a:t>iStar: </a:t>
            </a:r>
            <a:r>
              <a:rPr lang="en-US" sz="1000" dirty="0" err="1">
                <a:solidFill>
                  <a:srgbClr val="666666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rial" pitchFamily="34" charset="-120"/>
              </a:rPr>
              <a:t>开放域</a:t>
            </a:r>
            <a:r>
              <a:rPr lang="en-US" sz="1000" dirty="0">
                <a:solidFill>
                  <a:srgbClr val="666666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rial" pitchFamily="34" charset="-120"/>
              </a:rPr>
              <a:t> Agent 稳定训练；PRIME: 达到相同奖励所需样本减少 60%；Turn-PPO: 梯度方差相比 token-level 降低约一个数量级</a:t>
            </a:r>
            <a:endParaRPr lang="en-US" sz="10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548640" y="4526280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CC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rial" pitchFamily="34" charset="-120"/>
              </a:rPr>
              <a:t>参考来源</a:t>
            </a:r>
            <a:endParaRPr lang="en-US" sz="9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548640" y="4727448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99999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rial" pitchFamily="34" charset="-120"/>
              </a:rPr>
              <a:t>iStar: arXiv:2509.19199 (2025)  |  PRIME: arXiv:2502.01456 (Tsinghua/ShaiLab, 2025)  |  Turn-PPO: arXiv:2512.17008 (2025)</a:t>
            </a:r>
            <a:endParaRPr lang="en-US" sz="8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0BC8C54C-C091-4AF5-B2EC-9C2F379EF414}"/>
              </a:ext>
            </a:extLst>
          </p:cNvPr>
          <p:cNvSpPr txBox="1"/>
          <p:nvPr/>
        </p:nvSpPr>
        <p:spPr>
          <a:xfrm>
            <a:off x="7805821" y="154858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Beta-CA</a:t>
            </a:r>
          </a:p>
          <a:p>
            <a:r>
              <a:rPr lang="zh-CN" altLang="en-US" sz="1400" i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高校合作</a:t>
            </a:r>
            <a:endParaRPr lang="en-US" sz="1400" i="1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CC0000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182880"/>
            <a:ext cx="411480" cy="411480"/>
          </a:xfrm>
          <a:prstGeom prst="rect">
            <a:avLst/>
          </a:prstGeom>
          <a:solidFill>
            <a:srgbClr val="CC0000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828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rial Black" pitchFamily="34" charset="-120"/>
              </a:rPr>
              <a:t>01</a:t>
            </a:r>
            <a:endParaRPr lang="en-US" sz="14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5" name="Text 3"/>
          <p:cNvSpPr/>
          <p:nvPr/>
        </p:nvSpPr>
        <p:spPr>
          <a:xfrm>
            <a:off x="1097280" y="18288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C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rial" pitchFamily="34" charset="-120"/>
              </a:rPr>
              <a:t>长程 RL 训练能力</a:t>
            </a:r>
            <a:endParaRPr lang="en-US" sz="11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6" name="Text 4"/>
          <p:cNvSpPr/>
          <p:nvPr/>
        </p:nvSpPr>
        <p:spPr>
          <a:xfrm>
            <a:off x="548640" y="68580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CC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rial Black" pitchFamily="34" charset="-120"/>
              </a:rPr>
              <a:t>策略优化稳定性</a:t>
            </a:r>
            <a:endParaRPr lang="en-US" sz="24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7" name="Shape 5"/>
          <p:cNvSpPr/>
          <p:nvPr/>
        </p:nvSpPr>
        <p:spPr>
          <a:xfrm>
            <a:off x="548640" y="1325880"/>
            <a:ext cx="8046720" cy="502920"/>
          </a:xfrm>
          <a:prstGeom prst="rect">
            <a:avLst/>
          </a:prstGeom>
          <a:solidFill>
            <a:srgbClr val="FFF0F0"/>
          </a:solidFill>
          <a:ln/>
        </p:spPr>
      </p:sp>
      <p:sp>
        <p:nvSpPr>
          <p:cNvPr id="8" name="Shape 6"/>
          <p:cNvSpPr/>
          <p:nvPr/>
        </p:nvSpPr>
        <p:spPr>
          <a:xfrm>
            <a:off x="548640" y="1325880"/>
            <a:ext cx="54864" cy="502920"/>
          </a:xfrm>
          <a:prstGeom prst="rect">
            <a:avLst/>
          </a:prstGeom>
          <a:solidFill>
            <a:srgbClr val="CC0000"/>
          </a:solidFill>
          <a:ln/>
        </p:spPr>
      </p:sp>
      <p:sp>
        <p:nvSpPr>
          <p:cNvPr id="9" name="Text 7"/>
          <p:cNvSpPr/>
          <p:nvPr/>
        </p:nvSpPr>
        <p:spPr>
          <a:xfrm>
            <a:off x="777240" y="1325880"/>
            <a:ext cx="7635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 err="1">
                <a:solidFill>
                  <a:srgbClr val="CC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rial" pitchFamily="34" charset="-120"/>
              </a:rPr>
              <a:t>核心问题</a:t>
            </a:r>
            <a:r>
              <a:rPr lang="en-US" sz="1200" b="1" dirty="0">
                <a:solidFill>
                  <a:srgbClr val="CC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rial" pitchFamily="34" charset="-120"/>
              </a:rPr>
              <a:t>：</a:t>
            </a:r>
            <a:r>
              <a:rPr lang="zh-CN" altLang="en-US" sz="1200" dirty="0">
                <a:solidFill>
                  <a:srgbClr val="1A1A1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rial" pitchFamily="34" charset="-120"/>
              </a:rPr>
              <a:t>在长序列任务中，</a:t>
            </a:r>
            <a:r>
              <a:rPr lang="en-US" sz="1200" dirty="0">
                <a:solidFill>
                  <a:srgbClr val="1A1A1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rial" pitchFamily="34" charset="-120"/>
              </a:rPr>
              <a:t>Entropy </a:t>
            </a:r>
            <a:r>
              <a:rPr lang="en-US" sz="1200" dirty="0" err="1">
                <a:solidFill>
                  <a:srgbClr val="1A1A1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rial" pitchFamily="34" charset="-120"/>
              </a:rPr>
              <a:t>collapse（GRPO</a:t>
            </a:r>
            <a:r>
              <a:rPr lang="en-US" sz="1200" dirty="0">
                <a:solidFill>
                  <a:srgbClr val="1A1A1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rial" pitchFamily="34" charset="-120"/>
              </a:rPr>
              <a:t>）</a:t>
            </a:r>
            <a:r>
              <a:rPr lang="zh-CN" altLang="en-US" sz="1200" dirty="0">
                <a:solidFill>
                  <a:srgbClr val="1A1A1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rial" pitchFamily="34" charset="-120"/>
              </a:rPr>
              <a:t>：探索能力弱化</a:t>
            </a:r>
            <a:r>
              <a:rPr lang="en-US" sz="1200" dirty="0">
                <a:solidFill>
                  <a:srgbClr val="1A1A1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rial" pitchFamily="34" charset="-120"/>
              </a:rPr>
              <a:t>、Value collapse（PPO </a:t>
            </a:r>
            <a:r>
              <a:rPr lang="en-US" sz="1200" dirty="0" err="1">
                <a:solidFill>
                  <a:srgbClr val="1A1A1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rial" pitchFamily="34" charset="-120"/>
              </a:rPr>
              <a:t>长序列</a:t>
            </a:r>
            <a:r>
              <a:rPr lang="en-US" sz="1200" dirty="0">
                <a:solidFill>
                  <a:srgbClr val="1A1A1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rial" pitchFamily="34" charset="-120"/>
              </a:rPr>
              <a:t>）</a:t>
            </a:r>
            <a:r>
              <a:rPr lang="zh-CN" altLang="en-US" sz="1200" dirty="0">
                <a:solidFill>
                  <a:srgbClr val="1A1A1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rial" pitchFamily="34" charset="-120"/>
              </a:rPr>
              <a:t>：价值函数误导</a:t>
            </a:r>
            <a:r>
              <a:rPr lang="en-US" altLang="zh-CN" sz="1200" dirty="0" err="1">
                <a:solidFill>
                  <a:srgbClr val="1A1A1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rial" pitchFamily="34" charset="-120"/>
              </a:rPr>
              <a:t>policy</a:t>
            </a:r>
            <a:r>
              <a:rPr lang="en-US" sz="1200" dirty="0" err="1">
                <a:solidFill>
                  <a:srgbClr val="1A1A1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rial" pitchFamily="34" charset="-120"/>
              </a:rPr>
              <a:t>、normalization</a:t>
            </a:r>
            <a:r>
              <a:rPr lang="en-US" sz="1200" dirty="0">
                <a:solidFill>
                  <a:srgbClr val="1A1A1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rial" pitchFamily="34" charset="-120"/>
              </a:rPr>
              <a:t> </a:t>
            </a:r>
            <a:r>
              <a:rPr lang="en-US" altLang="zh-CN" sz="1200" dirty="0">
                <a:solidFill>
                  <a:srgbClr val="1A1A1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rial" pitchFamily="34" charset="-120"/>
              </a:rPr>
              <a:t>failure</a:t>
            </a:r>
            <a:r>
              <a:rPr lang="zh-CN" altLang="en-US" sz="1200" dirty="0">
                <a:solidFill>
                  <a:srgbClr val="1A1A1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rial" pitchFamily="34" charset="-120"/>
              </a:rPr>
              <a:t>：长度和</a:t>
            </a:r>
            <a:r>
              <a:rPr lang="en-US" altLang="zh-CN" sz="1200" dirty="0">
                <a:solidFill>
                  <a:srgbClr val="1A1A1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rial" pitchFamily="34" charset="-120"/>
              </a:rPr>
              <a:t>std </a:t>
            </a:r>
            <a:r>
              <a:rPr lang="en-US" altLang="zh-CN" sz="1200" dirty="0" err="1">
                <a:solidFill>
                  <a:srgbClr val="1A1A1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rial" pitchFamily="34" charset="-120"/>
              </a:rPr>
              <a:t>scaling</a:t>
            </a:r>
            <a:r>
              <a:rPr lang="en-US" sz="1200" dirty="0" err="1">
                <a:solidFill>
                  <a:srgbClr val="1A1A1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rial" pitchFamily="34" charset="-120"/>
              </a:rPr>
              <a:t>在长序列中</a:t>
            </a:r>
            <a:r>
              <a:rPr lang="zh-CN" altLang="en-US" sz="1200" dirty="0">
                <a:solidFill>
                  <a:srgbClr val="1A1A1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rial" pitchFamily="34" charset="-120"/>
              </a:rPr>
              <a:t>失效</a:t>
            </a:r>
            <a:endParaRPr lang="en-US" sz="12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548640" y="1965960"/>
            <a:ext cx="2590800" cy="1508760"/>
          </a:xfrm>
          <a:prstGeom prst="rect">
            <a:avLst/>
          </a:prstGeom>
          <a:solidFill>
            <a:srgbClr val="F5F5F5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48640" y="1965960"/>
            <a:ext cx="2590800" cy="45720"/>
          </a:xfrm>
          <a:prstGeom prst="rect">
            <a:avLst/>
          </a:prstGeom>
          <a:solidFill>
            <a:srgbClr val="CC0000"/>
          </a:solidFill>
          <a:ln/>
        </p:spPr>
      </p:sp>
      <p:sp>
        <p:nvSpPr>
          <p:cNvPr id="12" name="Text 10"/>
          <p:cNvSpPr/>
          <p:nvPr/>
        </p:nvSpPr>
        <p:spPr>
          <a:xfrm>
            <a:off x="685800" y="2075688"/>
            <a:ext cx="2316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1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rial" pitchFamily="34" charset="-120"/>
              </a:rPr>
              <a:t>VAPO (</a:t>
            </a:r>
            <a:r>
              <a:rPr lang="zh-CN" altLang="en-US" sz="1300" b="1" dirty="0">
                <a:solidFill>
                  <a:srgbClr val="1A1A1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rial" pitchFamily="34" charset="-120"/>
              </a:rPr>
              <a:t>控制更新幅度</a:t>
            </a:r>
            <a:r>
              <a:rPr lang="en-US" sz="1300" b="1" dirty="0">
                <a:solidFill>
                  <a:srgbClr val="1A1A1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rial" pitchFamily="34" charset="-120"/>
              </a:rPr>
              <a:t>)</a:t>
            </a:r>
            <a:endParaRPr lang="en-US" sz="13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685800" y="2404872"/>
            <a:ext cx="23164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altLang="en-US" sz="1000" dirty="0">
                <a:solidFill>
                  <a:srgbClr val="44444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rial" pitchFamily="34" charset="-120"/>
              </a:rPr>
              <a:t>在长序列下维持</a:t>
            </a:r>
            <a:r>
              <a:rPr lang="en-US" altLang="zh-CN" sz="1000" dirty="0">
                <a:solidFill>
                  <a:srgbClr val="44444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rial" pitchFamily="34" charset="-120"/>
              </a:rPr>
              <a:t>policy/value</a:t>
            </a:r>
            <a:r>
              <a:rPr lang="zh-CN" altLang="en-US" sz="1000" dirty="0">
                <a:solidFill>
                  <a:srgbClr val="44444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rial" pitchFamily="34" charset="-120"/>
              </a:rPr>
              <a:t>协同稳定：强化</a:t>
            </a:r>
            <a:r>
              <a:rPr lang="en-US" altLang="zh-CN" sz="1000" dirty="0">
                <a:solidFill>
                  <a:srgbClr val="44444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rial" pitchFamily="34" charset="-120"/>
              </a:rPr>
              <a:t>Clip</a:t>
            </a:r>
            <a:r>
              <a:rPr lang="zh-CN" altLang="en-US" sz="1000" dirty="0">
                <a:solidFill>
                  <a:srgbClr val="44444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rial" pitchFamily="34" charset="-120"/>
              </a:rPr>
              <a:t>机制，限制策略更新幅度；引入正向的</a:t>
            </a:r>
            <a:r>
              <a:rPr lang="en-US" altLang="zh-CN" sz="1000" dirty="0">
                <a:solidFill>
                  <a:srgbClr val="44444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rial" pitchFamily="34" charset="-120"/>
              </a:rPr>
              <a:t>LM Loss</a:t>
            </a:r>
            <a:r>
              <a:rPr lang="zh-CN" altLang="en-US" sz="1000" dirty="0">
                <a:solidFill>
                  <a:srgbClr val="44444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rial" pitchFamily="34" charset="-120"/>
              </a:rPr>
              <a:t>，防止</a:t>
            </a:r>
            <a:r>
              <a:rPr lang="en-US" altLang="zh-CN" sz="1000" dirty="0">
                <a:solidFill>
                  <a:srgbClr val="44444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rial" pitchFamily="34" charset="-120"/>
              </a:rPr>
              <a:t>policy</a:t>
            </a:r>
            <a:r>
              <a:rPr lang="zh-CN" altLang="en-US" sz="1000" dirty="0">
                <a:solidFill>
                  <a:srgbClr val="44444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rial" pitchFamily="34" charset="-120"/>
              </a:rPr>
              <a:t>偏移；稳定</a:t>
            </a:r>
            <a:r>
              <a:rPr lang="en-US" altLang="zh-CN" sz="1000" dirty="0">
                <a:solidFill>
                  <a:srgbClr val="44444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rial" pitchFamily="34" charset="-120"/>
              </a:rPr>
              <a:t>value</a:t>
            </a:r>
            <a:r>
              <a:rPr lang="zh-CN" altLang="en-US" sz="1000" dirty="0">
                <a:solidFill>
                  <a:srgbClr val="44444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rial" pitchFamily="34" charset="-120"/>
              </a:rPr>
              <a:t>训练</a:t>
            </a:r>
            <a:endParaRPr lang="en-US" sz="10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3276600" y="1965960"/>
            <a:ext cx="2590800" cy="1508760"/>
          </a:xfrm>
          <a:prstGeom prst="rect">
            <a:avLst/>
          </a:prstGeom>
          <a:solidFill>
            <a:srgbClr val="F5F5F5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276600" y="1965960"/>
            <a:ext cx="2590800" cy="45720"/>
          </a:xfrm>
          <a:prstGeom prst="rect">
            <a:avLst/>
          </a:prstGeom>
          <a:solidFill>
            <a:srgbClr val="CC0000"/>
          </a:solidFill>
          <a:ln/>
        </p:spPr>
      </p:sp>
      <p:sp>
        <p:nvSpPr>
          <p:cNvPr id="16" name="Text 14"/>
          <p:cNvSpPr/>
          <p:nvPr/>
        </p:nvSpPr>
        <p:spPr>
          <a:xfrm>
            <a:off x="3413760" y="2075688"/>
            <a:ext cx="2316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1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rial" pitchFamily="34" charset="-120"/>
              </a:rPr>
              <a:t>DAPO (</a:t>
            </a:r>
            <a:r>
              <a:rPr lang="zh-CN" altLang="en-US" sz="1300" b="1" dirty="0">
                <a:solidFill>
                  <a:srgbClr val="1A1A1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rial" pitchFamily="34" charset="-120"/>
              </a:rPr>
              <a:t>稳定梯度方差</a:t>
            </a:r>
            <a:r>
              <a:rPr lang="en-US" sz="1300" b="1" dirty="0">
                <a:solidFill>
                  <a:srgbClr val="1A1A1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rial" pitchFamily="34" charset="-120"/>
              </a:rPr>
              <a:t>)</a:t>
            </a:r>
            <a:endParaRPr lang="en-US" sz="13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3413760" y="2404872"/>
            <a:ext cx="23164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altLang="en-US" sz="1000" dirty="0">
                <a:solidFill>
                  <a:srgbClr val="44444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rial" pitchFamily="34" charset="-120"/>
              </a:rPr>
              <a:t>通过降低方差提升训练稳定性和效率：动态采样过滤低质量的</a:t>
            </a:r>
            <a:r>
              <a:rPr lang="en-US" altLang="zh-CN" sz="1000" dirty="0">
                <a:solidFill>
                  <a:srgbClr val="44444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rial" pitchFamily="34" charset="-120"/>
              </a:rPr>
              <a:t>trajectory</a:t>
            </a:r>
            <a:r>
              <a:rPr lang="zh-CN" altLang="en-US" sz="1000" dirty="0">
                <a:solidFill>
                  <a:srgbClr val="44444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rial" pitchFamily="34" charset="-120"/>
              </a:rPr>
              <a:t>；</a:t>
            </a:r>
            <a:r>
              <a:rPr lang="en-US" altLang="zh-CN" sz="1000" dirty="0">
                <a:solidFill>
                  <a:srgbClr val="44444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rial" pitchFamily="34" charset="-120"/>
              </a:rPr>
              <a:t>token-level loss</a:t>
            </a:r>
            <a:r>
              <a:rPr lang="zh-CN" altLang="en-US" sz="1000" dirty="0">
                <a:solidFill>
                  <a:srgbClr val="44444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rial" pitchFamily="34" charset="-120"/>
              </a:rPr>
              <a:t>；更高的样本效率（降低</a:t>
            </a:r>
            <a:r>
              <a:rPr lang="en-US" altLang="zh-CN" sz="1000" dirty="0">
                <a:solidFill>
                  <a:srgbClr val="44444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rial" pitchFamily="34" charset="-120"/>
              </a:rPr>
              <a:t>50%</a:t>
            </a:r>
            <a:r>
              <a:rPr lang="zh-CN" altLang="en-US" sz="1000" dirty="0">
                <a:solidFill>
                  <a:srgbClr val="44444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rial" pitchFamily="34" charset="-120"/>
              </a:rPr>
              <a:t>的训练成本）</a:t>
            </a:r>
            <a:endParaRPr lang="en-US" sz="10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6004560" y="1965960"/>
            <a:ext cx="2590800" cy="1508760"/>
          </a:xfrm>
          <a:prstGeom prst="rect">
            <a:avLst/>
          </a:prstGeom>
          <a:solidFill>
            <a:srgbClr val="F5F5F5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004560" y="1965960"/>
            <a:ext cx="2590800" cy="45720"/>
          </a:xfrm>
          <a:prstGeom prst="rect">
            <a:avLst/>
          </a:prstGeom>
          <a:solidFill>
            <a:srgbClr val="CC0000"/>
          </a:solidFill>
          <a:ln/>
        </p:spPr>
      </p:sp>
      <p:sp>
        <p:nvSpPr>
          <p:cNvPr id="20" name="Text 18"/>
          <p:cNvSpPr/>
          <p:nvPr/>
        </p:nvSpPr>
        <p:spPr>
          <a:xfrm>
            <a:off x="5972113" y="2048256"/>
            <a:ext cx="2655693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 err="1">
                <a:solidFill>
                  <a:srgbClr val="1A1A1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rial" pitchFamily="34" charset="-120"/>
              </a:rPr>
              <a:t>Dr.GRPO</a:t>
            </a:r>
            <a:r>
              <a:rPr lang="en-US" sz="1300" b="1" dirty="0">
                <a:solidFill>
                  <a:srgbClr val="1A1A1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rial" pitchFamily="34" charset="-120"/>
              </a:rPr>
              <a:t> / REINFORCE++</a:t>
            </a:r>
            <a:r>
              <a:rPr lang="zh-CN" altLang="en-US" sz="1300" b="1" dirty="0">
                <a:solidFill>
                  <a:srgbClr val="1A1A1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rial" pitchFamily="34" charset="-120"/>
              </a:rPr>
              <a:t>（去偏）</a:t>
            </a:r>
            <a:endParaRPr lang="en-US" sz="13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6141720" y="2404872"/>
            <a:ext cx="23164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altLang="en-US" sz="1000" dirty="0">
                <a:solidFill>
                  <a:srgbClr val="44444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rial" pitchFamily="34" charset="-120"/>
              </a:rPr>
              <a:t>减少人为归一化带来的不稳定性：</a:t>
            </a:r>
            <a:r>
              <a:rPr lang="en-US" sz="1000" dirty="0" err="1">
                <a:solidFill>
                  <a:srgbClr val="44444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rial" pitchFamily="34" charset="-120"/>
              </a:rPr>
              <a:t>Dr.GRPO</a:t>
            </a:r>
            <a:r>
              <a:rPr lang="en-US" sz="1000" dirty="0">
                <a:solidFill>
                  <a:srgbClr val="44444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rial" pitchFamily="34" charset="-120"/>
              </a:rPr>
              <a:t> 去除 length &amp; std normalization </a:t>
            </a:r>
            <a:r>
              <a:rPr lang="en-US" sz="1000" dirty="0" err="1">
                <a:solidFill>
                  <a:srgbClr val="44444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rial" pitchFamily="34" charset="-120"/>
              </a:rPr>
              <a:t>偏差</a:t>
            </a:r>
            <a:r>
              <a:rPr lang="zh-CN" altLang="en-US" sz="1000" dirty="0">
                <a:solidFill>
                  <a:srgbClr val="44444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rial" pitchFamily="34" charset="-120"/>
              </a:rPr>
              <a:t>；</a:t>
            </a:r>
            <a:r>
              <a:rPr lang="en-US" sz="1000" dirty="0">
                <a:solidFill>
                  <a:srgbClr val="44444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rial" pitchFamily="34" charset="-120"/>
              </a:rPr>
              <a:t>REINFORCE++ 加入 token-level baseline + KL 正则，比 GRPO 更稳定，比 PPO </a:t>
            </a:r>
            <a:r>
              <a:rPr lang="en-US" sz="1000" dirty="0" err="1">
                <a:solidFill>
                  <a:srgbClr val="44444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rial" pitchFamily="34" charset="-120"/>
              </a:rPr>
              <a:t>更简单</a:t>
            </a:r>
            <a:r>
              <a:rPr lang="en-US" sz="1000" dirty="0">
                <a:solidFill>
                  <a:srgbClr val="44444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rial" pitchFamily="34" charset="-120"/>
              </a:rPr>
              <a:t>。</a:t>
            </a:r>
            <a:endParaRPr lang="en-US" sz="10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2" name="Shape 20"/>
          <p:cNvSpPr/>
          <p:nvPr/>
        </p:nvSpPr>
        <p:spPr>
          <a:xfrm>
            <a:off x="548640" y="3657600"/>
            <a:ext cx="8046720" cy="731520"/>
          </a:xfrm>
          <a:prstGeom prst="rect">
            <a:avLst/>
          </a:prstGeom>
          <a:solidFill>
            <a:srgbClr val="FFF0F0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548640" y="3657600"/>
            <a:ext cx="54864" cy="731520"/>
          </a:xfrm>
          <a:prstGeom prst="rect">
            <a:avLst/>
          </a:prstGeom>
          <a:solidFill>
            <a:srgbClr val="2E8B57"/>
          </a:solidFill>
          <a:ln/>
        </p:spPr>
      </p:sp>
      <p:sp>
        <p:nvSpPr>
          <p:cNvPr id="24" name="Text 22"/>
          <p:cNvSpPr/>
          <p:nvPr/>
        </p:nvSpPr>
        <p:spPr>
          <a:xfrm>
            <a:off x="777240" y="3675888"/>
            <a:ext cx="7635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E8B57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rial" pitchFamily="34" charset="-120"/>
              </a:rPr>
              <a:t>预期收益：</a:t>
            </a:r>
            <a:r>
              <a:rPr lang="en-US" sz="1300" b="1" dirty="0">
                <a:solidFill>
                  <a:srgbClr val="1A1A1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rial" pitchFamily="34" charset="-120"/>
              </a:rPr>
              <a:t>VAPO: </a:t>
            </a:r>
            <a:r>
              <a:rPr lang="en-US" altLang="zh-CN" sz="1300" b="1" dirty="0">
                <a:solidFill>
                  <a:srgbClr val="1A1A1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rial" pitchFamily="34" charset="-120"/>
              </a:rPr>
              <a:t>AIME </a:t>
            </a:r>
            <a:r>
              <a:rPr lang="en-US" sz="1300" b="1" dirty="0">
                <a:solidFill>
                  <a:srgbClr val="1A1A1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rial" pitchFamily="34" charset="-120"/>
              </a:rPr>
              <a:t>SOTA；DAPO: 训练成本降 50%；Dr.GRPO: 无偏差 GRPO</a:t>
            </a:r>
            <a:endParaRPr lang="en-US" sz="13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777240" y="4005072"/>
            <a:ext cx="7635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66666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rial" pitchFamily="34" charset="-120"/>
              </a:rPr>
              <a:t>VAPO vs GRPO 基线 (47pts): +13.4pts；DAPO 以一半算力达到 R1-Zero 性能；REINFORCE++ 在 Magistral 2025 生产级验证</a:t>
            </a:r>
            <a:endParaRPr lang="en-US" sz="10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548640" y="4526280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CC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rial" pitchFamily="34" charset="-120"/>
              </a:rPr>
              <a:t>参考来源</a:t>
            </a:r>
            <a:endParaRPr lang="en-US" sz="9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548640" y="4727448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99999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rial" pitchFamily="34" charset="-120"/>
              </a:rPr>
              <a:t>VAPO: arXiv:2504.05118 (Seed-Thinking-v1.5, 2025)  |  DAPO: arXiv:2503.14476 (verl recipe, 2025)  |  Dr.GRPO: verl supported algorithms  |  REINFORCE++: OpenRLHF / Magistral 2025</a:t>
            </a:r>
            <a:endParaRPr lang="en-US" sz="8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CC0000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182880"/>
            <a:ext cx="411480" cy="411480"/>
          </a:xfrm>
          <a:prstGeom prst="rect">
            <a:avLst/>
          </a:prstGeom>
          <a:solidFill>
            <a:srgbClr val="0052D9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828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097280" y="18288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52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训练-推理一致性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68580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 err="1">
                <a:solidFill>
                  <a:srgbClr val="CC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端到端</a:t>
            </a:r>
            <a:r>
              <a:rPr lang="zh-CN" altLang="en-US" sz="2400" b="1" dirty="0">
                <a:solidFill>
                  <a:srgbClr val="CC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数值一致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548640" y="1325880"/>
            <a:ext cx="8046720" cy="502920"/>
          </a:xfrm>
          <a:prstGeom prst="rect">
            <a:avLst/>
          </a:prstGeom>
          <a:solidFill>
            <a:srgbClr val="FFF0F0"/>
          </a:solidFill>
          <a:ln/>
        </p:spPr>
      </p:sp>
      <p:sp>
        <p:nvSpPr>
          <p:cNvPr id="8" name="Shape 6"/>
          <p:cNvSpPr/>
          <p:nvPr/>
        </p:nvSpPr>
        <p:spPr>
          <a:xfrm>
            <a:off x="548640" y="1325880"/>
            <a:ext cx="54864" cy="502920"/>
          </a:xfrm>
          <a:prstGeom prst="rect">
            <a:avLst/>
          </a:prstGeom>
          <a:solidFill>
            <a:srgbClr val="CC0000"/>
          </a:solidFill>
          <a:ln/>
        </p:spPr>
      </p:sp>
      <p:sp>
        <p:nvSpPr>
          <p:cNvPr id="9" name="Text 7"/>
          <p:cNvSpPr/>
          <p:nvPr/>
        </p:nvSpPr>
        <p:spPr>
          <a:xfrm>
            <a:off x="777240" y="1325880"/>
            <a:ext cx="7635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C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核心问题：</a:t>
            </a:r>
            <a:r>
              <a:rPr lang="en-US" sz="1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FP8 rollout + BF16 训练产生系统性 logprob 偏差；MoE </a:t>
            </a:r>
            <a:r>
              <a:rPr lang="en-US" sz="1200" dirty="0" err="1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模型随训练累积发散</a:t>
            </a:r>
            <a:r>
              <a:rPr lang="en-US" sz="1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；</a:t>
            </a:r>
            <a:r>
              <a:rPr lang="zh-CN" altLang="en-US" sz="1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训推的实现</a:t>
            </a:r>
            <a:r>
              <a:rPr lang="en-US" sz="1200" dirty="0" err="1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差异</a:t>
            </a:r>
            <a:r>
              <a:rPr lang="zh-CN" altLang="en-US" sz="1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进一步</a:t>
            </a:r>
            <a:r>
              <a:rPr lang="en-US" sz="1200" dirty="0" err="1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引入数值误差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1965960"/>
            <a:ext cx="3886200" cy="1508760"/>
          </a:xfrm>
          <a:prstGeom prst="rect">
            <a:avLst/>
          </a:prstGeom>
          <a:solidFill>
            <a:srgbClr val="F5F5F5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48640" y="1965960"/>
            <a:ext cx="3886200" cy="45720"/>
          </a:xfrm>
          <a:prstGeom prst="rect">
            <a:avLst/>
          </a:prstGeom>
          <a:solidFill>
            <a:srgbClr val="0052D9"/>
          </a:solidFill>
          <a:ln/>
        </p:spPr>
      </p:sp>
      <p:sp>
        <p:nvSpPr>
          <p:cNvPr id="12" name="Text 10"/>
          <p:cNvSpPr/>
          <p:nvPr/>
        </p:nvSpPr>
        <p:spPr>
          <a:xfrm>
            <a:off x="685800" y="2075688"/>
            <a:ext cx="3611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FP8 E2E Pipelin</a:t>
            </a:r>
            <a:r>
              <a:rPr lang="en-US" altLang="zh-CN" sz="13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 </a:t>
            </a:r>
            <a:r>
              <a:rPr lang="zh-CN" altLang="en-US" sz="13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（精度统一）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85800" y="2404872"/>
            <a:ext cx="36118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 err="1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端到端</a:t>
            </a:r>
            <a:r>
              <a:rPr lang="en-US" sz="10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FP8 RL 流水线：采样与训练统一精度。消除跨精度 logprob 偏差。实测：BF16-train + FP8-rollout 初始 KL 远大于 FP8 E2E。支持 FP32 Scaling Factor </a:t>
            </a:r>
            <a:r>
              <a:rPr lang="en-US" sz="1000" dirty="0" err="1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确保数值稳定</a:t>
            </a:r>
            <a:r>
              <a:rPr lang="en-US" sz="10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。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572000" y="1965960"/>
            <a:ext cx="3886200" cy="1508760"/>
          </a:xfrm>
          <a:prstGeom prst="rect">
            <a:avLst/>
          </a:prstGeom>
          <a:solidFill>
            <a:srgbClr val="F5F5F5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572000" y="1965960"/>
            <a:ext cx="3886200" cy="45720"/>
          </a:xfrm>
          <a:prstGeom prst="rect">
            <a:avLst/>
          </a:prstGeom>
          <a:solidFill>
            <a:srgbClr val="0052D9"/>
          </a:solidFill>
          <a:ln/>
        </p:spPr>
      </p:sp>
      <p:sp>
        <p:nvSpPr>
          <p:cNvPr id="16" name="Text 14"/>
          <p:cNvSpPr/>
          <p:nvPr/>
        </p:nvSpPr>
        <p:spPr>
          <a:xfrm>
            <a:off x="4709160" y="2075688"/>
            <a:ext cx="3611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altLang="en-US" sz="13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数值</a:t>
            </a:r>
            <a:r>
              <a:rPr lang="en-US" sz="1300" b="1" dirty="0" err="1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一致性监控与</a:t>
            </a:r>
            <a:r>
              <a:rPr lang="zh-CN" altLang="en-US" sz="13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校准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709160" y="2404872"/>
            <a:ext cx="36118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将训练/推理 logprob 的 KL 散度作为健康指标实时监控。超阈值报警。Flash Attention </a:t>
            </a:r>
            <a:r>
              <a:rPr lang="en-US" sz="1000" dirty="0" err="1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版本锁定</a:t>
            </a:r>
            <a:r>
              <a:rPr lang="zh-CN" altLang="en-US" sz="10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，避免</a:t>
            </a:r>
            <a:r>
              <a:rPr lang="en-US" sz="1000" dirty="0" err="1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数值</a:t>
            </a:r>
            <a:r>
              <a:rPr lang="zh-CN" altLang="en-US" sz="10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漂移</a:t>
            </a:r>
            <a:r>
              <a:rPr lang="en-US" sz="10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。</a:t>
            </a:r>
            <a:r>
              <a:rPr lang="en-US" sz="1000" dirty="0" err="1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训练前强制对齐</a:t>
            </a:r>
            <a:r>
              <a:rPr lang="zh-CN" altLang="en-US" sz="10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验证</a:t>
            </a:r>
            <a:r>
              <a:rPr lang="en-US" sz="10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。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48640" y="3657600"/>
            <a:ext cx="8046720" cy="731520"/>
          </a:xfrm>
          <a:prstGeom prst="rect">
            <a:avLst/>
          </a:prstGeom>
          <a:solidFill>
            <a:srgbClr val="F0F4FF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548640" y="3657600"/>
            <a:ext cx="54864" cy="731520"/>
          </a:xfrm>
          <a:prstGeom prst="rect">
            <a:avLst/>
          </a:prstGeom>
          <a:solidFill>
            <a:srgbClr val="2E8B57"/>
          </a:solidFill>
          <a:ln/>
        </p:spPr>
      </p:sp>
      <p:sp>
        <p:nvSpPr>
          <p:cNvPr id="20" name="Text 18"/>
          <p:cNvSpPr/>
          <p:nvPr/>
        </p:nvSpPr>
        <p:spPr>
          <a:xfrm>
            <a:off x="777240" y="3675888"/>
            <a:ext cx="7635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E8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预期收益：</a:t>
            </a:r>
            <a:r>
              <a:rPr lang="en-US" sz="13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消除跨精度 KL 偏差；防止 MoE 训练因精度不匹配而崩溃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777240" y="4005072"/>
            <a:ext cx="7635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无 FP8 E2E：训推 KL 初始即显著偏大且随训练持续增长；有 FP8 E2E：KL 全程维持近零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48640" y="4526280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CC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参考来源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548640" y="4727448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Miles FP8 E2E: LMSYS Blog 2025.11.25  |  verl FP8 文档: github.com/volcengine/verl  |  FP8 RL 分析: arXiv:2601.18150 (2026)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CC0000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182880"/>
            <a:ext cx="411480" cy="411480"/>
          </a:xfrm>
          <a:prstGeom prst="rect">
            <a:avLst/>
          </a:prstGeom>
          <a:solidFill>
            <a:srgbClr val="0052D9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828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097280" y="18288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52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训练-推理一致性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68580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CC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R3: Rollout Routing Replay (MoE 路由对齐)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548640" y="1325880"/>
            <a:ext cx="8046720" cy="502920"/>
          </a:xfrm>
          <a:prstGeom prst="rect">
            <a:avLst/>
          </a:prstGeom>
          <a:solidFill>
            <a:srgbClr val="FFF0F0"/>
          </a:solidFill>
          <a:ln/>
        </p:spPr>
      </p:sp>
      <p:sp>
        <p:nvSpPr>
          <p:cNvPr id="8" name="Shape 6"/>
          <p:cNvSpPr/>
          <p:nvPr/>
        </p:nvSpPr>
        <p:spPr>
          <a:xfrm>
            <a:off x="548640" y="1325880"/>
            <a:ext cx="54864" cy="502920"/>
          </a:xfrm>
          <a:prstGeom prst="rect">
            <a:avLst/>
          </a:prstGeom>
          <a:solidFill>
            <a:srgbClr val="CC0000"/>
          </a:solidFill>
          <a:ln/>
        </p:spPr>
      </p:sp>
      <p:sp>
        <p:nvSpPr>
          <p:cNvPr id="9" name="Text 7"/>
          <p:cNvSpPr/>
          <p:nvPr/>
        </p:nvSpPr>
        <p:spPr>
          <a:xfrm>
            <a:off x="777240" y="1325880"/>
            <a:ext cx="7635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C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核心问题：</a:t>
            </a:r>
            <a:r>
              <a:rPr lang="en-US" sz="1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MoE Router 跨引擎（SGLang vs </a:t>
            </a:r>
            <a:r>
              <a:rPr lang="en-US" sz="1200" dirty="0" err="1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Megatron）对相同输入选择不同</a:t>
            </a:r>
            <a:r>
              <a:rPr lang="en-US" sz="1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Expert</a:t>
            </a:r>
            <a:r>
              <a:rPr lang="zh-CN" altLang="en-US" sz="1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路径</a:t>
            </a:r>
            <a:r>
              <a:rPr lang="en-US" sz="1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→ </a:t>
            </a:r>
            <a:r>
              <a:rPr lang="en-US" sz="1200" dirty="0" err="1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logprob</a:t>
            </a:r>
            <a:r>
              <a:rPr lang="en-US" sz="1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zh-CN" altLang="en-US" sz="1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不一致</a:t>
            </a:r>
            <a:r>
              <a:rPr lang="en-US" sz="1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→ RL 训练崩溃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1965960"/>
            <a:ext cx="3886200" cy="1508760"/>
          </a:xfrm>
          <a:prstGeom prst="rect">
            <a:avLst/>
          </a:prstGeom>
          <a:solidFill>
            <a:srgbClr val="F5F5F5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48640" y="1965960"/>
            <a:ext cx="3886200" cy="45720"/>
          </a:xfrm>
          <a:prstGeom prst="rect">
            <a:avLst/>
          </a:prstGeom>
          <a:solidFill>
            <a:srgbClr val="0052D9"/>
          </a:solidFill>
          <a:ln/>
        </p:spPr>
      </p:sp>
      <p:sp>
        <p:nvSpPr>
          <p:cNvPr id="12" name="Text 10"/>
          <p:cNvSpPr/>
          <p:nvPr/>
        </p:nvSpPr>
        <p:spPr>
          <a:xfrm>
            <a:off x="685800" y="2075688"/>
            <a:ext cx="3611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R3 Routing Replay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85800" y="2404872"/>
            <a:ext cx="36118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推理时记录每个 token 的 Expert Routing </a:t>
            </a:r>
            <a:r>
              <a:rPr lang="en-US" sz="1000" dirty="0" err="1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Mask，训练时</a:t>
            </a:r>
            <a:r>
              <a:rPr lang="en-US" sz="10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Replay 相同路由，消除跨引擎差异。Qwen3-30B-A3B 实测显著降低训推 KL，防止 RL collapse。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572000" y="1965960"/>
            <a:ext cx="3886200" cy="1508760"/>
          </a:xfrm>
          <a:prstGeom prst="rect">
            <a:avLst/>
          </a:prstGeom>
          <a:solidFill>
            <a:srgbClr val="F5F5F5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572000" y="1965960"/>
            <a:ext cx="3886200" cy="45720"/>
          </a:xfrm>
          <a:prstGeom prst="rect">
            <a:avLst/>
          </a:prstGeom>
          <a:solidFill>
            <a:srgbClr val="0052D9"/>
          </a:solidFill>
          <a:ln/>
        </p:spPr>
      </p:sp>
      <p:sp>
        <p:nvSpPr>
          <p:cNvPr id="16" name="Text 14"/>
          <p:cNvSpPr/>
          <p:nvPr/>
        </p:nvSpPr>
        <p:spPr>
          <a:xfrm>
            <a:off x="4709160" y="2075688"/>
            <a:ext cx="3611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R2 (基础版 Routing Replay)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709160" y="2404872"/>
            <a:ext cx="36118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 err="1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更简单的变体，适合</a:t>
            </a:r>
            <a:r>
              <a:rPr lang="zh-CN" altLang="en-US" sz="10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轻量</a:t>
            </a:r>
            <a:r>
              <a:rPr lang="en-US" sz="10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off-policy 场景。开销更低但鲁棒性较弱。R3 在 R2 基础上增加自适应 Replay，</a:t>
            </a:r>
            <a:r>
              <a:rPr lang="zh-CN" altLang="en-US" sz="10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适合</a:t>
            </a:r>
            <a:r>
              <a:rPr lang="en-US" sz="10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大 off-policy </a:t>
            </a:r>
            <a:r>
              <a:rPr lang="en-US" sz="1000" dirty="0" err="1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漂移</a:t>
            </a:r>
            <a:r>
              <a:rPr lang="en-US" sz="10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。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48640" y="3657600"/>
            <a:ext cx="8046720" cy="731520"/>
          </a:xfrm>
          <a:prstGeom prst="rect">
            <a:avLst/>
          </a:prstGeom>
          <a:solidFill>
            <a:srgbClr val="F0F4FF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548640" y="3657600"/>
            <a:ext cx="54864" cy="731520"/>
          </a:xfrm>
          <a:prstGeom prst="rect">
            <a:avLst/>
          </a:prstGeom>
          <a:solidFill>
            <a:srgbClr val="2E8B57"/>
          </a:solidFill>
          <a:ln/>
        </p:spPr>
      </p:sp>
      <p:sp>
        <p:nvSpPr>
          <p:cNvPr id="20" name="Text 18"/>
          <p:cNvSpPr/>
          <p:nvPr/>
        </p:nvSpPr>
        <p:spPr>
          <a:xfrm>
            <a:off x="777240" y="3675888"/>
            <a:ext cx="7635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E8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预期收益：</a:t>
            </a:r>
            <a:r>
              <a:rPr lang="en-US" sz="13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防止 MoE RL 训练崩溃；显著降低训推 KL 散度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777240" y="4005072"/>
            <a:ext cx="7635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无 R3：MoE 模型（如 Qwen3-30B-A3B）在前几百步即发生 RL collapse；有 R3：全程稳定训练。Routing Mask Replay 额外开销 &lt;5%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48640" y="4526280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CC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参考来源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548640" y="4727448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R3: arXiv:2510.11370 (2025)  |  Miles + SGLang 协作: github.com/radixark/miles  |  R2 (Vanilla RR): 引用自 R3 论文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CC0000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182880"/>
            <a:ext cx="411480" cy="411480"/>
          </a:xfrm>
          <a:prstGeom prst="rect">
            <a:avLst/>
          </a:prstGeom>
          <a:solidFill>
            <a:srgbClr val="0052D9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828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097280" y="18288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52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训练-推理一致性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68580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CC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TIS / MIS </a:t>
            </a:r>
            <a:r>
              <a:rPr lang="en-US" sz="2400" b="1" dirty="0" err="1">
                <a:solidFill>
                  <a:srgbClr val="CC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算法校正（Off-policy</a:t>
            </a:r>
            <a:r>
              <a:rPr lang="en-US" sz="2400" b="1" dirty="0">
                <a:solidFill>
                  <a:srgbClr val="CC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 </a:t>
            </a:r>
            <a:r>
              <a:rPr lang="zh-CN" altLang="en-US" sz="2400" b="1" dirty="0">
                <a:solidFill>
                  <a:srgbClr val="CC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保障机制</a:t>
            </a:r>
            <a:r>
              <a:rPr lang="en-US" sz="2400" b="1" dirty="0">
                <a:solidFill>
                  <a:srgbClr val="CC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）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548640" y="1325880"/>
            <a:ext cx="8046720" cy="502920"/>
          </a:xfrm>
          <a:prstGeom prst="rect">
            <a:avLst/>
          </a:prstGeom>
          <a:solidFill>
            <a:srgbClr val="FFF0F0"/>
          </a:solidFill>
          <a:ln/>
        </p:spPr>
      </p:sp>
      <p:sp>
        <p:nvSpPr>
          <p:cNvPr id="8" name="Shape 6"/>
          <p:cNvSpPr/>
          <p:nvPr/>
        </p:nvSpPr>
        <p:spPr>
          <a:xfrm>
            <a:off x="548640" y="1325880"/>
            <a:ext cx="54864" cy="502920"/>
          </a:xfrm>
          <a:prstGeom prst="rect">
            <a:avLst/>
          </a:prstGeom>
          <a:solidFill>
            <a:srgbClr val="CC0000"/>
          </a:solidFill>
          <a:ln/>
        </p:spPr>
      </p:sp>
      <p:sp>
        <p:nvSpPr>
          <p:cNvPr id="9" name="Text 7"/>
          <p:cNvSpPr/>
          <p:nvPr/>
        </p:nvSpPr>
        <p:spPr>
          <a:xfrm>
            <a:off x="777240" y="1325880"/>
            <a:ext cx="7635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 err="1">
                <a:solidFill>
                  <a:srgbClr val="CC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核心问题</a:t>
            </a:r>
            <a:r>
              <a:rPr lang="en-US" sz="1200" b="1" dirty="0">
                <a:solidFill>
                  <a:srgbClr val="CC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：</a:t>
            </a:r>
            <a:r>
              <a:rPr lang="zh-CN" altLang="en-US" sz="1200" dirty="0">
                <a:solidFill>
                  <a:srgbClr val="1A1A1A"/>
                </a:solidFill>
                <a:latin typeface="Arial" pitchFamily="34" charset="0"/>
                <a:cs typeface="Arial" pitchFamily="34" charset="-120"/>
              </a:rPr>
              <a:t>在大规模</a:t>
            </a:r>
            <a:r>
              <a:rPr lang="en-US" altLang="zh-CN" sz="1200" dirty="0" err="1">
                <a:solidFill>
                  <a:srgbClr val="1A1A1A"/>
                </a:solidFill>
                <a:latin typeface="Arial" pitchFamily="34" charset="0"/>
                <a:cs typeface="Arial" pitchFamily="34" charset="-120"/>
              </a:rPr>
              <a:t>RL</a:t>
            </a:r>
            <a:r>
              <a:rPr lang="en-US" sz="1200" dirty="0" err="1">
                <a:solidFill>
                  <a:srgbClr val="1A1A1A"/>
                </a:solidFill>
                <a:latin typeface="Arial" pitchFamily="34" charset="0"/>
                <a:cs typeface="Arial" pitchFamily="34" charset="-120"/>
              </a:rPr>
              <a:t>异步训练</a:t>
            </a:r>
            <a:r>
              <a:rPr lang="zh-CN" altLang="en-US" sz="1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中</a:t>
            </a:r>
            <a:r>
              <a:rPr lang="en-US" sz="1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off-policy drift </a:t>
            </a:r>
            <a:r>
              <a:rPr lang="en-US" sz="1200" dirty="0" err="1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不可避免</a:t>
            </a:r>
            <a:r>
              <a:rPr lang="zh-CN" altLang="en-US" sz="1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，导致</a:t>
            </a:r>
            <a:r>
              <a:rPr lang="en-US" sz="1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importance ratio </a:t>
            </a:r>
            <a:r>
              <a:rPr lang="zh-CN" altLang="en-US" sz="1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极端放大，</a:t>
            </a:r>
            <a:r>
              <a:rPr lang="en-US" sz="1200" dirty="0" err="1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训练发散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1965960"/>
            <a:ext cx="3886200" cy="1508760"/>
          </a:xfrm>
          <a:prstGeom prst="rect">
            <a:avLst/>
          </a:prstGeom>
          <a:solidFill>
            <a:srgbClr val="F5F5F5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48640" y="1965960"/>
            <a:ext cx="3886200" cy="45720"/>
          </a:xfrm>
          <a:prstGeom prst="rect">
            <a:avLst/>
          </a:prstGeom>
          <a:solidFill>
            <a:srgbClr val="0052D9"/>
          </a:solidFill>
          <a:ln/>
        </p:spPr>
      </p:sp>
      <p:sp>
        <p:nvSpPr>
          <p:cNvPr id="12" name="Text 10"/>
          <p:cNvSpPr/>
          <p:nvPr/>
        </p:nvSpPr>
        <p:spPr>
          <a:xfrm>
            <a:off x="685800" y="2075688"/>
            <a:ext cx="3611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Truncated I</a:t>
            </a:r>
            <a:r>
              <a:rPr lang="en-US" altLang="zh-CN" sz="13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mportance </a:t>
            </a:r>
            <a:r>
              <a:rPr lang="en-US" sz="13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</a:t>
            </a:r>
            <a:r>
              <a:rPr lang="en-US" altLang="zh-CN" sz="13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ampling</a:t>
            </a:r>
            <a:r>
              <a:rPr lang="en-US" sz="13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(TIS)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85800" y="2404872"/>
            <a:ext cx="36118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截断极端 importance ratio（clip 到安全范围），防止过时 rollout </a:t>
            </a:r>
            <a:r>
              <a:rPr lang="en-US" sz="1000" dirty="0" err="1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引发梯度爆炸</a:t>
            </a:r>
            <a:r>
              <a:rPr lang="zh-CN" altLang="en-US" sz="10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，抑制极端样本对梯度的影响</a:t>
            </a:r>
            <a:r>
              <a:rPr lang="en-US" sz="10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。适用于：异步 off-policy drift、精度不对齐、GSPO 序列级 clip </a:t>
            </a:r>
            <a:r>
              <a:rPr lang="en-US" sz="1000" dirty="0" err="1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替代方案</a:t>
            </a:r>
            <a:r>
              <a:rPr lang="en-US" sz="10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。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572000" y="1965960"/>
            <a:ext cx="3886200" cy="1508760"/>
          </a:xfrm>
          <a:prstGeom prst="rect">
            <a:avLst/>
          </a:prstGeom>
          <a:solidFill>
            <a:srgbClr val="F5F5F5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572000" y="1965960"/>
            <a:ext cx="3886200" cy="45720"/>
          </a:xfrm>
          <a:prstGeom prst="rect">
            <a:avLst/>
          </a:prstGeom>
          <a:solidFill>
            <a:srgbClr val="0052D9"/>
          </a:solidFill>
          <a:ln/>
        </p:spPr>
      </p:sp>
      <p:sp>
        <p:nvSpPr>
          <p:cNvPr id="16" name="Text 14"/>
          <p:cNvSpPr/>
          <p:nvPr/>
        </p:nvSpPr>
        <p:spPr>
          <a:xfrm>
            <a:off x="4709160" y="2075688"/>
            <a:ext cx="3611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Masked IS (MIS)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709160" y="2404872"/>
            <a:ext cx="36118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对超出阈值的 token 直接屏蔽（完全丢弃不稳定梯度）。比 TIS 更激进，适合大 off-policy 差距。可与 GSPO 序列级 clipping 组合使用，形成分层保护。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48640" y="3657600"/>
            <a:ext cx="8046720" cy="731520"/>
          </a:xfrm>
          <a:prstGeom prst="rect">
            <a:avLst/>
          </a:prstGeom>
          <a:solidFill>
            <a:srgbClr val="F0F4FF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548640" y="3657600"/>
            <a:ext cx="54864" cy="731520"/>
          </a:xfrm>
          <a:prstGeom prst="rect">
            <a:avLst/>
          </a:prstGeom>
          <a:solidFill>
            <a:srgbClr val="2E8B57"/>
          </a:solidFill>
          <a:ln/>
        </p:spPr>
      </p:sp>
      <p:sp>
        <p:nvSpPr>
          <p:cNvPr id="20" name="Text 18"/>
          <p:cNvSpPr/>
          <p:nvPr/>
        </p:nvSpPr>
        <p:spPr>
          <a:xfrm>
            <a:off x="777240" y="3675888"/>
            <a:ext cx="7635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E8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预期收益：</a:t>
            </a:r>
            <a:r>
              <a:rPr lang="en-US" sz="13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防止异步/精度差距下训练发散；安全支持 off-policy 训练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777240" y="4005072"/>
            <a:ext cx="7635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无 IS 校正：异步训练在 off-policy 差距较大时可能数百步内发散；有 TIS/MIS：即使 rollout 与训练 policy 差 2–3 个梯度步仍可稳定训练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48640" y="4526280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CC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参考来源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548640" y="4727448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TIS/MIS: Miles --use-tis, LMSYS Blog 2025.11  |  GSPO 序列级 clip: verl 支持, arXiv:2512.01374 (2025)  |  Off-policy RL 稳定性: Anatomy of RL Frameworks 2025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CC0000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182880"/>
            <a:ext cx="411480" cy="411480"/>
          </a:xfrm>
          <a:prstGeom prst="rect">
            <a:avLst/>
          </a:prstGeom>
          <a:solidFill>
            <a:srgbClr val="2E8B57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828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097280" y="18288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E8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Rollout 效率优化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68580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CC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投机解码加速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548640" y="1325880"/>
            <a:ext cx="8046720" cy="502920"/>
          </a:xfrm>
          <a:prstGeom prst="rect">
            <a:avLst/>
          </a:prstGeom>
          <a:solidFill>
            <a:srgbClr val="FFF0F0"/>
          </a:solidFill>
          <a:ln/>
        </p:spPr>
      </p:sp>
      <p:sp>
        <p:nvSpPr>
          <p:cNvPr id="8" name="Shape 6"/>
          <p:cNvSpPr/>
          <p:nvPr/>
        </p:nvSpPr>
        <p:spPr>
          <a:xfrm>
            <a:off x="548640" y="1325880"/>
            <a:ext cx="54864" cy="502920"/>
          </a:xfrm>
          <a:prstGeom prst="rect">
            <a:avLst/>
          </a:prstGeom>
          <a:solidFill>
            <a:srgbClr val="CC0000"/>
          </a:solidFill>
          <a:ln/>
        </p:spPr>
      </p:sp>
      <p:sp>
        <p:nvSpPr>
          <p:cNvPr id="9" name="Text 7"/>
          <p:cNvSpPr/>
          <p:nvPr/>
        </p:nvSpPr>
        <p:spPr>
          <a:xfrm>
            <a:off x="777240" y="1325880"/>
            <a:ext cx="7635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C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核心问题：</a:t>
            </a:r>
            <a:r>
              <a:rPr lang="en-US" sz="1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自回归 Rollout 是核心瓶颈（占 RL 总时长 70%-80%）；</a:t>
            </a:r>
            <a:r>
              <a:rPr lang="zh-CN" altLang="en-US" sz="1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如果采用投机解码进行加速，由于</a:t>
            </a:r>
            <a:r>
              <a:rPr lang="en-US" sz="1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Policy 漂移导致 Draft 失效、长轨迹接受率下降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1965960"/>
            <a:ext cx="2590800" cy="1508760"/>
          </a:xfrm>
          <a:prstGeom prst="rect">
            <a:avLst/>
          </a:prstGeom>
          <a:solidFill>
            <a:srgbClr val="F5F5F5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48640" y="1965960"/>
            <a:ext cx="2590800" cy="45720"/>
          </a:xfrm>
          <a:prstGeom prst="rect">
            <a:avLst/>
          </a:prstGeom>
          <a:solidFill>
            <a:srgbClr val="2E8B57"/>
          </a:solidFill>
          <a:ln/>
        </p:spPr>
      </p:sp>
      <p:sp>
        <p:nvSpPr>
          <p:cNvPr id="12" name="Text 10"/>
          <p:cNvSpPr/>
          <p:nvPr/>
        </p:nvSpPr>
        <p:spPr>
          <a:xfrm>
            <a:off x="685800" y="2075688"/>
            <a:ext cx="2316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altLang="en-US" sz="13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投机解码 </a:t>
            </a:r>
            <a:r>
              <a:rPr lang="en-US" altLang="zh-CN" sz="13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</a:t>
            </a:r>
            <a:r>
              <a:rPr lang="zh-CN" altLang="en-US" sz="13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在线更新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85800" y="2404872"/>
            <a:ext cx="23164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 err="1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轻量</a:t>
            </a:r>
            <a:r>
              <a:rPr lang="en-US" sz="10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000" dirty="0" err="1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Draft</a:t>
            </a:r>
            <a:r>
              <a:rPr lang="en-US" altLang="zh-CN" sz="1000" dirty="0" err="1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</a:t>
            </a:r>
            <a:r>
              <a:rPr lang="en-US" sz="1000" dirty="0" err="1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生成</a:t>
            </a:r>
            <a:r>
              <a:rPr lang="en-US" sz="10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k 个 token，Target Model </a:t>
            </a:r>
            <a:r>
              <a:rPr lang="en-US" sz="1000" dirty="0" err="1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并行验证。RL</a:t>
            </a:r>
            <a:r>
              <a:rPr lang="en-US" sz="10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000" dirty="0" err="1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循环中同步更新</a:t>
            </a:r>
            <a:r>
              <a:rPr lang="en-US" altLang="zh-CN" sz="1000" dirty="0" err="1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Drafter</a:t>
            </a:r>
            <a:r>
              <a:rPr lang="en-US" sz="1000" dirty="0" err="1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，保持</a:t>
            </a:r>
            <a:r>
              <a:rPr lang="en-US" sz="10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Draft 与 Actor </a:t>
            </a:r>
            <a:r>
              <a:rPr lang="en-US" sz="1000" dirty="0" err="1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精确对齐。接受率不随训练衰减</a:t>
            </a:r>
            <a:r>
              <a:rPr lang="en-US" sz="10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。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276600" y="1965960"/>
            <a:ext cx="2590800" cy="1508760"/>
          </a:xfrm>
          <a:prstGeom prst="rect">
            <a:avLst/>
          </a:prstGeom>
          <a:solidFill>
            <a:srgbClr val="F5F5F5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276600" y="1965960"/>
            <a:ext cx="2590800" cy="45720"/>
          </a:xfrm>
          <a:prstGeom prst="rect">
            <a:avLst/>
          </a:prstGeom>
          <a:solidFill>
            <a:srgbClr val="2E8B57"/>
          </a:solidFill>
          <a:ln/>
        </p:spPr>
      </p:sp>
      <p:sp>
        <p:nvSpPr>
          <p:cNvPr id="16" name="Text 14"/>
          <p:cNvSpPr/>
          <p:nvPr/>
        </p:nvSpPr>
        <p:spPr>
          <a:xfrm>
            <a:off x="3413760" y="2075688"/>
            <a:ext cx="2316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SPEC-RL (历史轨迹 Cache)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413760" y="2404872"/>
            <a:ext cx="23164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以前 epoch 轨迹前缀作为 Speculative Cache，跳过重复 token </a:t>
            </a:r>
            <a:r>
              <a:rPr lang="en-US" sz="1000" dirty="0" err="1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生成</a:t>
            </a:r>
            <a:r>
              <a:rPr lang="en-US" sz="10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。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004560" y="1965960"/>
            <a:ext cx="2590800" cy="1508760"/>
          </a:xfrm>
          <a:prstGeom prst="rect">
            <a:avLst/>
          </a:prstGeom>
          <a:solidFill>
            <a:srgbClr val="F5F5F5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004560" y="1965960"/>
            <a:ext cx="2590800" cy="45720"/>
          </a:xfrm>
          <a:prstGeom prst="rect">
            <a:avLst/>
          </a:prstGeom>
          <a:solidFill>
            <a:srgbClr val="2E8B57"/>
          </a:solidFill>
          <a:ln/>
        </p:spPr>
      </p:sp>
      <p:sp>
        <p:nvSpPr>
          <p:cNvPr id="20" name="Text 18"/>
          <p:cNvSpPr/>
          <p:nvPr/>
        </p:nvSpPr>
        <p:spPr>
          <a:xfrm>
            <a:off x="6141720" y="2075688"/>
            <a:ext cx="2316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 (自适应无参 Drafter)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141720" y="2404872"/>
            <a:ext cx="23164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Suffix Tree 无参数 Drafter + 滑动窗口剪枝。长轨迹分配更大 Draft Budget（解决接受率随长度下降问题）。无需模型训练。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548640" y="3657600"/>
            <a:ext cx="8046720" cy="731520"/>
          </a:xfrm>
          <a:prstGeom prst="rect">
            <a:avLst/>
          </a:prstGeom>
          <a:solidFill>
            <a:srgbClr val="F0FFF4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548640" y="3657600"/>
            <a:ext cx="54864" cy="731520"/>
          </a:xfrm>
          <a:prstGeom prst="rect">
            <a:avLst/>
          </a:prstGeom>
          <a:solidFill>
            <a:srgbClr val="2E8B57"/>
          </a:solidFill>
          <a:ln/>
        </p:spPr>
      </p:sp>
      <p:sp>
        <p:nvSpPr>
          <p:cNvPr id="24" name="Text 22"/>
          <p:cNvSpPr/>
          <p:nvPr/>
        </p:nvSpPr>
        <p:spPr>
          <a:xfrm>
            <a:off x="777240" y="3675888"/>
            <a:ext cx="7635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E8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预期收益：</a:t>
            </a:r>
            <a:r>
              <a:rPr lang="en-US" sz="13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EAGLE3: Rollout 吞吐提升 25–40%；DAS: Rollout 时间减少 50%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777240" y="4005072"/>
            <a:ext cx="7635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EAGLE3 </a:t>
            </a:r>
            <a:r>
              <a:rPr lang="en-US" sz="1000" dirty="0" err="1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在线</a:t>
            </a:r>
            <a:r>
              <a:rPr lang="zh-CN" alt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更新</a:t>
            </a: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：接受率全程维持 ~70%（无联训时衰减至 ~40%）；SPEC-RL: 早期 epoch 轨迹重叠率高时效果尤为显著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548640" y="4526280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CC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参考来源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548640" y="4727448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EAGLE/EAGLE3: Miles doc, LMSYS Blog 2025.11  |  SPEC-RL: arXiv:2509.23232 (2025)  |  DAS: arXiv:2511.13841 (2025)  |  RhymeRL: 引用自 RollArt arXiv:2512.22560</a:t>
            </a:r>
            <a:endParaRPr lang="en-US" sz="800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527BE291-83D7-4C02-B864-7DF39EFB3EE3}"/>
              </a:ext>
            </a:extLst>
          </p:cNvPr>
          <p:cNvSpPr txBox="1"/>
          <p:nvPr/>
        </p:nvSpPr>
        <p:spPr>
          <a:xfrm>
            <a:off x="7805821" y="154858"/>
            <a:ext cx="88998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Beta-CA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CC0000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182880"/>
            <a:ext cx="411480" cy="411480"/>
          </a:xfrm>
          <a:prstGeom prst="rect">
            <a:avLst/>
          </a:prstGeom>
          <a:solidFill>
            <a:srgbClr val="2E8B57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828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097280" y="18288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E8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Rollout 效率优化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68580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CC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异步解耦架构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548640" y="1325880"/>
            <a:ext cx="8046720" cy="502920"/>
          </a:xfrm>
          <a:prstGeom prst="rect">
            <a:avLst/>
          </a:prstGeom>
          <a:solidFill>
            <a:srgbClr val="FFF0F0"/>
          </a:solidFill>
          <a:ln/>
        </p:spPr>
      </p:sp>
      <p:sp>
        <p:nvSpPr>
          <p:cNvPr id="8" name="Shape 6"/>
          <p:cNvSpPr/>
          <p:nvPr/>
        </p:nvSpPr>
        <p:spPr>
          <a:xfrm>
            <a:off x="548640" y="1325880"/>
            <a:ext cx="54864" cy="502920"/>
          </a:xfrm>
          <a:prstGeom prst="rect">
            <a:avLst/>
          </a:prstGeom>
          <a:solidFill>
            <a:srgbClr val="CC0000"/>
          </a:solidFill>
          <a:ln/>
        </p:spPr>
      </p:sp>
      <p:sp>
        <p:nvSpPr>
          <p:cNvPr id="9" name="Text 7"/>
          <p:cNvSpPr/>
          <p:nvPr/>
        </p:nvSpPr>
        <p:spPr>
          <a:xfrm>
            <a:off x="777240" y="1325880"/>
            <a:ext cx="7635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 err="1">
                <a:solidFill>
                  <a:srgbClr val="CC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核心问题</a:t>
            </a:r>
            <a:r>
              <a:rPr lang="en-US" sz="1200" b="1" dirty="0">
                <a:solidFill>
                  <a:srgbClr val="CC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：</a:t>
            </a:r>
            <a:r>
              <a:rPr lang="zh-CN" altLang="en-US" sz="1200" dirty="0">
                <a:solidFill>
                  <a:srgbClr val="1A1A1A"/>
                </a:solidFill>
                <a:latin typeface="Arial" pitchFamily="34" charset="0"/>
                <a:cs typeface="Arial" pitchFamily="34" charset="-120"/>
              </a:rPr>
              <a:t>传统</a:t>
            </a:r>
            <a:r>
              <a:rPr lang="en-US" altLang="zh-CN" sz="1200" dirty="0" err="1">
                <a:solidFill>
                  <a:srgbClr val="1A1A1A"/>
                </a:solidFill>
                <a:latin typeface="Arial" pitchFamily="34" charset="0"/>
                <a:cs typeface="Arial" pitchFamily="34" charset="-120"/>
              </a:rPr>
              <a:t>RL</a:t>
            </a:r>
            <a:r>
              <a:rPr lang="en-US" sz="1200" dirty="0" err="1">
                <a:solidFill>
                  <a:srgbClr val="1A1A1A"/>
                </a:solidFill>
                <a:latin typeface="Arial" pitchFamily="34" charset="0"/>
                <a:cs typeface="Arial" pitchFamily="34" charset="-120"/>
              </a:rPr>
              <a:t>训练</a:t>
            </a:r>
            <a:r>
              <a:rPr lang="zh-CN" altLang="en-US" sz="1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必须</a:t>
            </a:r>
            <a:r>
              <a:rPr lang="en-US" sz="1200" dirty="0" err="1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等待所有</a:t>
            </a:r>
            <a:r>
              <a:rPr lang="en-US" sz="1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Rollout </a:t>
            </a:r>
            <a:r>
              <a:rPr lang="en-US" sz="1200" dirty="0" err="1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完成</a:t>
            </a:r>
            <a:r>
              <a:rPr lang="zh-CN" altLang="en-US" sz="1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，</a:t>
            </a:r>
            <a:r>
              <a:rPr lang="en-US" sz="1200" dirty="0" err="1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权重广播时</a:t>
            </a:r>
            <a:r>
              <a:rPr lang="zh-CN" altLang="en-US" sz="1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计算单元</a:t>
            </a:r>
            <a:r>
              <a:rPr lang="en-US" sz="1200" dirty="0" err="1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空闲</a:t>
            </a:r>
            <a:r>
              <a:rPr lang="zh-CN" altLang="en-US" sz="1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，</a:t>
            </a:r>
            <a:r>
              <a:rPr lang="en-US" sz="1200" dirty="0" err="1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环境交互增加额外延迟</a:t>
            </a:r>
            <a:r>
              <a:rPr lang="zh-CN" altLang="en-US" sz="1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，导致</a:t>
            </a:r>
            <a:r>
              <a:rPr lang="en-US" altLang="zh-CN" sz="1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GPU/NPU</a:t>
            </a:r>
            <a:r>
              <a:rPr lang="zh-CN" altLang="en-US" sz="1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利用率低，</a:t>
            </a:r>
            <a:r>
              <a:rPr lang="en-US" altLang="zh-CN" sz="1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pipeline</a:t>
            </a:r>
            <a:r>
              <a:rPr lang="zh-CN" altLang="en-US" sz="1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被最慢任务拖累。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1965960"/>
            <a:ext cx="3886200" cy="1508760"/>
          </a:xfrm>
          <a:prstGeom prst="rect">
            <a:avLst/>
          </a:prstGeom>
          <a:solidFill>
            <a:srgbClr val="F5F5F5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48640" y="1965960"/>
            <a:ext cx="3886200" cy="45720"/>
          </a:xfrm>
          <a:prstGeom prst="rect">
            <a:avLst/>
          </a:prstGeom>
          <a:solidFill>
            <a:srgbClr val="2E8B57"/>
          </a:solidFill>
          <a:ln/>
        </p:spPr>
      </p:sp>
      <p:sp>
        <p:nvSpPr>
          <p:cNvPr id="12" name="Text 10"/>
          <p:cNvSpPr/>
          <p:nvPr/>
        </p:nvSpPr>
        <p:spPr>
          <a:xfrm>
            <a:off x="685800" y="2075688"/>
            <a:ext cx="3611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00" b="1" dirty="0" err="1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全异步</a:t>
            </a:r>
            <a:r>
              <a:rPr lang="zh-CN" altLang="en-US" sz="13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（</a:t>
            </a:r>
            <a:r>
              <a:rPr lang="en-US" altLang="zh-CN" sz="1300" b="1" dirty="0" err="1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AReaL</a:t>
            </a:r>
            <a:r>
              <a:rPr lang="zh-CN" altLang="en-US" sz="13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）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85800" y="2404872"/>
            <a:ext cx="36118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训练与 Rollout 完全解耦：权重更新异步广播，无同步阻塞。对比同步基线 2.77x 加速。SGLang Backend 显著提升多轮 Agent Rollout </a:t>
            </a:r>
            <a:r>
              <a:rPr lang="en-US" sz="1000" dirty="0" err="1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吞吐</a:t>
            </a:r>
            <a:r>
              <a:rPr lang="en-US" sz="10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。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572000" y="1965960"/>
            <a:ext cx="3886200" cy="1508760"/>
          </a:xfrm>
          <a:prstGeom prst="rect">
            <a:avLst/>
          </a:prstGeom>
          <a:solidFill>
            <a:srgbClr val="F5F5F5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572000" y="1965960"/>
            <a:ext cx="3886200" cy="45720"/>
          </a:xfrm>
          <a:prstGeom prst="rect">
            <a:avLst/>
          </a:prstGeom>
          <a:solidFill>
            <a:srgbClr val="2E8B57"/>
          </a:solidFill>
          <a:ln/>
        </p:spPr>
      </p:sp>
      <p:sp>
        <p:nvSpPr>
          <p:cNvPr id="16" name="Text 14"/>
          <p:cNvSpPr/>
          <p:nvPr/>
        </p:nvSpPr>
        <p:spPr>
          <a:xfrm>
            <a:off x="4709160" y="2075688"/>
            <a:ext cx="3611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00" b="1" dirty="0" err="1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环境级异步</a:t>
            </a:r>
            <a:r>
              <a:rPr lang="zh-CN" altLang="en-US" sz="13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（</a:t>
            </a:r>
            <a:r>
              <a:rPr lang="en-US" sz="13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ROLL Flash </a:t>
            </a:r>
            <a:r>
              <a:rPr lang="zh-CN" altLang="en-US" sz="13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）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709160" y="2404872"/>
            <a:ext cx="36118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环境级异步 Rollout：轨迹生成与环境交互解耦。环境等待期 GPU </a:t>
            </a:r>
            <a:r>
              <a:rPr lang="en-US" sz="1000" dirty="0" err="1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立即处理其他请求</a:t>
            </a:r>
            <a:r>
              <a:rPr lang="en-US" sz="10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。</a:t>
            </a:r>
            <a:r>
              <a:rPr lang="zh-CN" altLang="en-US" sz="10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消除环境瓶颈，</a:t>
            </a:r>
            <a:r>
              <a:rPr lang="en-US" sz="1000" dirty="0" err="1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工具调用场景效果尤为显著</a:t>
            </a:r>
            <a:r>
              <a:rPr lang="en-US" sz="10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。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48640" y="3657600"/>
            <a:ext cx="8046720" cy="731520"/>
          </a:xfrm>
          <a:prstGeom prst="rect">
            <a:avLst/>
          </a:prstGeom>
          <a:solidFill>
            <a:srgbClr val="F0FFF4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548640" y="3657600"/>
            <a:ext cx="54864" cy="731520"/>
          </a:xfrm>
          <a:prstGeom prst="rect">
            <a:avLst/>
          </a:prstGeom>
          <a:solidFill>
            <a:srgbClr val="2E8B57"/>
          </a:solidFill>
          <a:ln/>
        </p:spPr>
      </p:sp>
      <p:sp>
        <p:nvSpPr>
          <p:cNvPr id="20" name="Text 18"/>
          <p:cNvSpPr/>
          <p:nvPr/>
        </p:nvSpPr>
        <p:spPr>
          <a:xfrm>
            <a:off x="777240" y="3675888"/>
            <a:ext cx="7635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E8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预期收益：</a:t>
            </a:r>
            <a:r>
              <a:rPr lang="en-US" sz="13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AReaL: 端到端 2.77x 加速；ROLL Flash: Agent 任务 1.81–2.72x 加速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777240" y="4005072"/>
            <a:ext cx="7635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AReaL 代价：轻微 off-policy drift（由 TIS/MIS 管理）；ROLL Flash: 对环境绑定任务零代价。两者组合可获得乘法收益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48640" y="4526280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CC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参考来源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548640" y="4727448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AReaL / boba²: arXiv:2505.24298 (MLSys 2025, Ant/Tsinghua)  |  ROLL Flash 环境异步: arXiv:2510.11345 (Alibaba, 2025)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CC0000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182880"/>
            <a:ext cx="411480" cy="411480"/>
          </a:xfrm>
          <a:prstGeom prst="rect">
            <a:avLst/>
          </a:prstGeom>
          <a:solidFill>
            <a:srgbClr val="2E8B57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828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097280" y="18288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E8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Rollout 效率优化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68580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CC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长尾 Rollout 治理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548640" y="1325880"/>
            <a:ext cx="8046720" cy="502920"/>
          </a:xfrm>
          <a:prstGeom prst="rect">
            <a:avLst/>
          </a:prstGeom>
          <a:solidFill>
            <a:srgbClr val="FFF0F0"/>
          </a:solidFill>
          <a:ln/>
        </p:spPr>
      </p:sp>
      <p:sp>
        <p:nvSpPr>
          <p:cNvPr id="8" name="Shape 6"/>
          <p:cNvSpPr/>
          <p:nvPr/>
        </p:nvSpPr>
        <p:spPr>
          <a:xfrm>
            <a:off x="548640" y="1325880"/>
            <a:ext cx="54864" cy="502920"/>
          </a:xfrm>
          <a:prstGeom prst="rect">
            <a:avLst/>
          </a:prstGeom>
          <a:solidFill>
            <a:srgbClr val="CC0000"/>
          </a:solidFill>
          <a:ln/>
        </p:spPr>
      </p:sp>
      <p:sp>
        <p:nvSpPr>
          <p:cNvPr id="9" name="Text 7"/>
          <p:cNvSpPr/>
          <p:nvPr/>
        </p:nvSpPr>
        <p:spPr>
          <a:xfrm>
            <a:off x="777240" y="1325880"/>
            <a:ext cx="7635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 err="1">
                <a:solidFill>
                  <a:srgbClr val="CC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核心问题：</a:t>
            </a:r>
            <a:r>
              <a:rPr lang="en-US" sz="1200" dirty="0" err="1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批次被最长轨迹阻塞（同步等待</a:t>
            </a:r>
            <a:r>
              <a:rPr lang="en-US" sz="1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）</a:t>
            </a:r>
            <a:r>
              <a:rPr lang="zh-CN" altLang="en-US" sz="1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，</a:t>
            </a:r>
            <a:r>
              <a:rPr lang="en-US" sz="1200" dirty="0" err="1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快速请求被</a:t>
            </a:r>
            <a:r>
              <a:rPr lang="zh-CN" altLang="en-US" sz="1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拖慢，环境初始化</a:t>
            </a:r>
            <a:r>
              <a:rPr lang="en-US" altLang="zh-CN" sz="1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</a:t>
            </a:r>
            <a:r>
              <a:rPr lang="zh-CN" altLang="en-US" sz="1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重置会带来随机长尾延迟，导致计算单元空闲，系统吞吐下降，异步收益被部分抵消。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1965960"/>
            <a:ext cx="2590800" cy="1508760"/>
          </a:xfrm>
          <a:prstGeom prst="rect">
            <a:avLst/>
          </a:prstGeom>
          <a:solidFill>
            <a:srgbClr val="F5F5F5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48640" y="1965960"/>
            <a:ext cx="2590800" cy="45720"/>
          </a:xfrm>
          <a:prstGeom prst="rect">
            <a:avLst/>
          </a:prstGeom>
          <a:solidFill>
            <a:srgbClr val="2E8B57"/>
          </a:solidFill>
          <a:ln/>
        </p:spPr>
      </p:sp>
      <p:sp>
        <p:nvSpPr>
          <p:cNvPr id="12" name="Text 10"/>
          <p:cNvSpPr/>
          <p:nvPr/>
        </p:nvSpPr>
        <p:spPr>
          <a:xfrm>
            <a:off x="603504" y="2075688"/>
            <a:ext cx="239877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Tail Batching</a:t>
            </a:r>
            <a:r>
              <a:rPr lang="zh-CN" altLang="en-US" sz="13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（</a:t>
            </a:r>
            <a:r>
              <a:rPr lang="en-US" sz="13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altLang="zh-CN" sz="13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batching </a:t>
            </a:r>
            <a:r>
              <a:rPr lang="zh-CN" altLang="en-US" sz="13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优化</a:t>
            </a:r>
            <a:r>
              <a:rPr lang="en-US" sz="13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zh-CN" altLang="en-US" sz="13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）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85800" y="2404872"/>
            <a:ext cx="23164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 err="1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短请求先完成，长请求延迟到独立长轮次</a:t>
            </a:r>
            <a:r>
              <a:rPr lang="zh-CN" altLang="en-US" sz="10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，长轨迹拆分到独立</a:t>
            </a:r>
            <a:r>
              <a:rPr lang="en-US" altLang="zh-CN" sz="10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batch</a:t>
            </a:r>
            <a:r>
              <a:rPr lang="en-US" sz="10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。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276600" y="1965960"/>
            <a:ext cx="2590800" cy="1508760"/>
          </a:xfrm>
          <a:prstGeom prst="rect">
            <a:avLst/>
          </a:prstGeom>
          <a:solidFill>
            <a:srgbClr val="F5F5F5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276600" y="1965960"/>
            <a:ext cx="2590800" cy="45720"/>
          </a:xfrm>
          <a:prstGeom prst="rect">
            <a:avLst/>
          </a:prstGeom>
          <a:solidFill>
            <a:srgbClr val="2E8B57"/>
          </a:solidFill>
          <a:ln/>
        </p:spPr>
      </p:sp>
      <p:sp>
        <p:nvSpPr>
          <p:cNvPr id="16" name="Text 14"/>
          <p:cNvSpPr/>
          <p:nvPr/>
        </p:nvSpPr>
        <p:spPr>
          <a:xfrm>
            <a:off x="3413760" y="2075688"/>
            <a:ext cx="2316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00" b="1" dirty="0" err="1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硬件</a:t>
            </a:r>
            <a:r>
              <a:rPr lang="zh-CN" altLang="en-US" sz="13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感知</a:t>
            </a:r>
            <a:r>
              <a:rPr lang="en-US" sz="1300" b="1" dirty="0" err="1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调度</a:t>
            </a:r>
            <a:r>
              <a:rPr lang="zh-CN" altLang="en-US" sz="13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（</a:t>
            </a:r>
            <a:r>
              <a:rPr lang="en-US" sz="13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zh-CN" altLang="en-US" sz="13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调度优化</a:t>
            </a:r>
            <a:r>
              <a:rPr lang="en-US" sz="13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zh-CN" altLang="en-US" sz="13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）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413760" y="2404872"/>
            <a:ext cx="23164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altLang="zh-CN" sz="10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PD</a:t>
            </a:r>
            <a:r>
              <a:rPr lang="zh-CN" altLang="en-US" sz="10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分离，</a:t>
            </a:r>
            <a:r>
              <a:rPr lang="en-US" sz="1000" dirty="0" err="1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并行环境</a:t>
            </a:r>
            <a:r>
              <a:rPr lang="zh-CN" altLang="en-US" sz="10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调度，</a:t>
            </a:r>
            <a:r>
              <a:rPr lang="en-US" sz="1000" dirty="0" err="1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避免</a:t>
            </a:r>
            <a:r>
              <a:rPr lang="zh-CN" altLang="en-US" sz="10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环境初始化阻塞</a:t>
            </a:r>
            <a:r>
              <a:rPr lang="en-US" sz="10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。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004560" y="1965960"/>
            <a:ext cx="2590800" cy="1508760"/>
          </a:xfrm>
          <a:prstGeom prst="rect">
            <a:avLst/>
          </a:prstGeom>
          <a:solidFill>
            <a:srgbClr val="F5F5F5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004560" y="1965960"/>
            <a:ext cx="2590800" cy="45720"/>
          </a:xfrm>
          <a:prstGeom prst="rect">
            <a:avLst/>
          </a:prstGeom>
          <a:solidFill>
            <a:srgbClr val="2E8B57"/>
          </a:solidFill>
          <a:ln/>
        </p:spPr>
      </p:sp>
      <p:sp>
        <p:nvSpPr>
          <p:cNvPr id="20" name="Text 18"/>
          <p:cNvSpPr/>
          <p:nvPr/>
        </p:nvSpPr>
        <p:spPr>
          <a:xfrm>
            <a:off x="6082235" y="2075688"/>
            <a:ext cx="2458261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Partial Rollout </a:t>
            </a:r>
            <a:r>
              <a:rPr lang="en-US" sz="1300" b="1" dirty="0" err="1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回收</a:t>
            </a:r>
            <a:r>
              <a:rPr lang="zh-CN" altLang="en-US" sz="13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（</a:t>
            </a:r>
            <a:r>
              <a:rPr lang="en-US" sz="13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zh-CN" altLang="en-US" sz="13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部分利用</a:t>
            </a:r>
            <a:r>
              <a:rPr lang="en-US" sz="13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zh-CN" altLang="en-US" sz="13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）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141720" y="2404872"/>
            <a:ext cx="23164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 err="1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回收半成品轨迹（未完成</a:t>
            </a:r>
            <a:r>
              <a:rPr lang="en-US" sz="10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Rollout </a:t>
            </a:r>
            <a:r>
              <a:rPr lang="en-US" sz="1000" dirty="0" err="1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仍提供有用训练信号</a:t>
            </a:r>
            <a:r>
              <a:rPr lang="en-US" sz="10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）</a:t>
            </a:r>
            <a:r>
              <a:rPr lang="zh-CN" altLang="en-US" sz="10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，减少等待完整</a:t>
            </a:r>
            <a:r>
              <a:rPr lang="en-US" altLang="zh-CN" sz="10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rollout</a:t>
            </a:r>
            <a:r>
              <a:rPr lang="zh-CN" altLang="en-US" sz="10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的必要性。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548640" y="3657600"/>
            <a:ext cx="8046720" cy="731520"/>
          </a:xfrm>
          <a:prstGeom prst="rect">
            <a:avLst/>
          </a:prstGeom>
          <a:solidFill>
            <a:srgbClr val="F0FFF4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548640" y="3657600"/>
            <a:ext cx="54864" cy="731520"/>
          </a:xfrm>
          <a:prstGeom prst="rect">
            <a:avLst/>
          </a:prstGeom>
          <a:solidFill>
            <a:srgbClr val="2E8B57"/>
          </a:solidFill>
          <a:ln/>
        </p:spPr>
      </p:sp>
      <p:sp>
        <p:nvSpPr>
          <p:cNvPr id="24" name="Text 22"/>
          <p:cNvSpPr/>
          <p:nvPr/>
        </p:nvSpPr>
        <p:spPr>
          <a:xfrm>
            <a:off x="777240" y="3675888"/>
            <a:ext cx="7635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E8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预期收益：</a:t>
            </a:r>
            <a:r>
              <a:rPr lang="en-US" sz="13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RollPacker: 2.03–2.56x 加速；RollArt: 延迟降 0.49–0.53x；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777240" y="4005072"/>
            <a:ext cx="7635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RollPacker 单独：最大响应长度降 8.9x，消除主要长尾阻塞；RollArt 叠加硬件亲和路由；OrchestrRL 动态并行度互补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548640" y="4526280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CC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参考来源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548640" y="4727448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RollPacker: arXiv:2509.21009 (Alibaba/ROLL, 2025)  |  RollArt: arXiv:2512.22560 (Alibaba/ROLL, 2025)  |  Miles Partial Rollout: github.com/radixark/miles  |  OrchestrRL: arXiv:2601.01209 (2026)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CC0000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182880"/>
            <a:ext cx="411480" cy="411480"/>
          </a:xfrm>
          <a:prstGeom prst="rect">
            <a:avLst/>
          </a:prstGeom>
          <a:solidFill>
            <a:srgbClr val="2E8B57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828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097280" y="18288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E8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Rollout 效率优化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68580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CC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权重同步与通信优化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548640" y="1325880"/>
            <a:ext cx="8046720" cy="502920"/>
          </a:xfrm>
          <a:prstGeom prst="rect">
            <a:avLst/>
          </a:prstGeom>
          <a:solidFill>
            <a:srgbClr val="FFF0F0"/>
          </a:solidFill>
          <a:ln/>
        </p:spPr>
      </p:sp>
      <p:sp>
        <p:nvSpPr>
          <p:cNvPr id="8" name="Shape 6"/>
          <p:cNvSpPr/>
          <p:nvPr/>
        </p:nvSpPr>
        <p:spPr>
          <a:xfrm>
            <a:off x="548640" y="1325880"/>
            <a:ext cx="54864" cy="502920"/>
          </a:xfrm>
          <a:prstGeom prst="rect">
            <a:avLst/>
          </a:prstGeom>
          <a:solidFill>
            <a:srgbClr val="CC0000"/>
          </a:solidFill>
          <a:ln/>
        </p:spPr>
      </p:sp>
      <p:sp>
        <p:nvSpPr>
          <p:cNvPr id="9" name="Text 7"/>
          <p:cNvSpPr/>
          <p:nvPr/>
        </p:nvSpPr>
        <p:spPr>
          <a:xfrm>
            <a:off x="777240" y="1325880"/>
            <a:ext cx="7635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 err="1">
                <a:solidFill>
                  <a:srgbClr val="CC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核心问题：</a:t>
            </a:r>
            <a:r>
              <a:rPr lang="en-US" sz="1200" dirty="0" err="1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训练更新后广播权重时</a:t>
            </a:r>
            <a:r>
              <a:rPr lang="zh-CN" altLang="en-US" sz="1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，计算单元</a:t>
            </a:r>
            <a:r>
              <a:rPr lang="en-US" sz="1200" dirty="0" err="1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空闲</a:t>
            </a:r>
            <a:r>
              <a:rPr lang="zh-CN" altLang="en-US" sz="1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，</a:t>
            </a:r>
            <a:r>
              <a:rPr lang="en-US" sz="1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70B+ 模型 NCCL </a:t>
            </a:r>
            <a:r>
              <a:rPr lang="en-US" sz="1200" dirty="0" err="1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广播可达数秒；训练与</a:t>
            </a:r>
            <a:r>
              <a:rPr lang="en-US" sz="1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Rollout</a:t>
            </a:r>
            <a:r>
              <a:rPr lang="zh-CN" altLang="en-US" sz="1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争抢</a:t>
            </a:r>
            <a:r>
              <a:rPr lang="en-US" sz="1200" dirty="0" err="1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资源</a:t>
            </a:r>
            <a:r>
              <a:rPr lang="zh-CN" altLang="en-US" sz="1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，导致系统吞吐下降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1965960"/>
            <a:ext cx="2590800" cy="1508760"/>
          </a:xfrm>
          <a:prstGeom prst="rect">
            <a:avLst/>
          </a:prstGeom>
          <a:solidFill>
            <a:srgbClr val="F5F5F5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48640" y="1965960"/>
            <a:ext cx="2590800" cy="45720"/>
          </a:xfrm>
          <a:prstGeom prst="rect">
            <a:avLst/>
          </a:prstGeom>
          <a:solidFill>
            <a:srgbClr val="2E8B57"/>
          </a:solidFill>
          <a:ln/>
        </p:spPr>
      </p:sp>
      <p:sp>
        <p:nvSpPr>
          <p:cNvPr id="12" name="Text 10"/>
          <p:cNvSpPr/>
          <p:nvPr/>
        </p:nvSpPr>
        <p:spPr>
          <a:xfrm>
            <a:off x="685800" y="2075688"/>
            <a:ext cx="2316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CUDA IPC </a:t>
            </a:r>
            <a:r>
              <a:rPr lang="zh-CN" altLang="en-US" sz="13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（</a:t>
            </a:r>
            <a:r>
              <a:rPr lang="en-US" sz="13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300" b="1" dirty="0" err="1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零拷贝</a:t>
            </a:r>
            <a:r>
              <a:rPr lang="en-US" sz="13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zh-CN" altLang="en-US" sz="13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）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85800" y="2404872"/>
            <a:ext cx="23164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altLang="en-US" sz="10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同节点内通过</a:t>
            </a:r>
            <a:r>
              <a:rPr lang="en-US" altLang="zh-CN" sz="10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CUDA IPC</a:t>
            </a:r>
            <a:r>
              <a:rPr lang="zh-CN" altLang="en-US" sz="10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共享权重，消除序列化与拷贝开销</a:t>
            </a:r>
            <a:r>
              <a:rPr lang="en-US" sz="10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。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276600" y="1965960"/>
            <a:ext cx="2590800" cy="1508760"/>
          </a:xfrm>
          <a:prstGeom prst="rect">
            <a:avLst/>
          </a:prstGeom>
          <a:solidFill>
            <a:srgbClr val="F5F5F5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276600" y="1965960"/>
            <a:ext cx="2590800" cy="45720"/>
          </a:xfrm>
          <a:prstGeom prst="rect">
            <a:avLst/>
          </a:prstGeom>
          <a:solidFill>
            <a:srgbClr val="2E8B57"/>
          </a:solidFill>
          <a:ln/>
        </p:spPr>
      </p:sp>
      <p:sp>
        <p:nvSpPr>
          <p:cNvPr id="16" name="Text 14"/>
          <p:cNvSpPr/>
          <p:nvPr/>
        </p:nvSpPr>
        <p:spPr>
          <a:xfrm>
            <a:off x="3413760" y="2075688"/>
            <a:ext cx="2316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Checkpoint-Engine </a:t>
            </a:r>
            <a:r>
              <a:rPr lang="zh-CN" altLang="en-US" sz="13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（解耦）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413760" y="2404872"/>
            <a:ext cx="23164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altLang="en-US" sz="10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引入独立权重</a:t>
            </a:r>
            <a:r>
              <a:rPr lang="en-US" sz="1000" dirty="0" err="1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同步中间层，解耦推理引擎与训练框架的版本依赖</a:t>
            </a:r>
            <a:r>
              <a:rPr lang="en-US" sz="10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。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004560" y="1965960"/>
            <a:ext cx="2590800" cy="1508760"/>
          </a:xfrm>
          <a:prstGeom prst="rect">
            <a:avLst/>
          </a:prstGeom>
          <a:solidFill>
            <a:srgbClr val="F5F5F5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004560" y="1965960"/>
            <a:ext cx="2590800" cy="45720"/>
          </a:xfrm>
          <a:prstGeom prst="rect">
            <a:avLst/>
          </a:prstGeom>
          <a:solidFill>
            <a:srgbClr val="2E8B57"/>
          </a:solidFill>
          <a:ln/>
        </p:spPr>
      </p:sp>
      <p:sp>
        <p:nvSpPr>
          <p:cNvPr id="20" name="Text 18"/>
          <p:cNvSpPr/>
          <p:nvPr/>
        </p:nvSpPr>
        <p:spPr>
          <a:xfrm>
            <a:off x="6141720" y="2075688"/>
            <a:ext cx="2316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00" b="1" dirty="0" err="1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AReaL</a:t>
            </a:r>
            <a:r>
              <a:rPr lang="en-US" sz="13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zh-CN" altLang="en-US" sz="13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（</a:t>
            </a:r>
            <a:r>
              <a:rPr lang="en-US" sz="13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300" b="1" dirty="0" err="1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参数重分配</a:t>
            </a:r>
            <a:r>
              <a:rPr lang="zh-CN" altLang="en-US" sz="13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与共享</a:t>
            </a:r>
            <a:r>
              <a:rPr lang="en-US" sz="13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zh-CN" altLang="en-US" sz="13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）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141720" y="2404872"/>
            <a:ext cx="23164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训练与推理动态共用 GPU 资源池，弹性切换。配合全异步 </a:t>
            </a:r>
            <a:r>
              <a:rPr lang="en-US" sz="1000" dirty="0" err="1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Rollout，权重更新广播无阻塞</a:t>
            </a:r>
            <a:r>
              <a:rPr lang="en-US" sz="10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。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548640" y="3657600"/>
            <a:ext cx="8046720" cy="731520"/>
          </a:xfrm>
          <a:prstGeom prst="rect">
            <a:avLst/>
          </a:prstGeom>
          <a:solidFill>
            <a:srgbClr val="F0FFF4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548640" y="3657600"/>
            <a:ext cx="54864" cy="731520"/>
          </a:xfrm>
          <a:prstGeom prst="rect">
            <a:avLst/>
          </a:prstGeom>
          <a:solidFill>
            <a:srgbClr val="2E8B57"/>
          </a:solidFill>
          <a:ln/>
        </p:spPr>
      </p:sp>
      <p:sp>
        <p:nvSpPr>
          <p:cNvPr id="24" name="Text 22"/>
          <p:cNvSpPr/>
          <p:nvPr/>
        </p:nvSpPr>
        <p:spPr>
          <a:xfrm>
            <a:off x="777240" y="3675888"/>
            <a:ext cx="7635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 err="1">
                <a:solidFill>
                  <a:srgbClr val="2E8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预期收益：</a:t>
            </a:r>
            <a:r>
              <a:rPr lang="en-US" sz="1300" b="1" dirty="0" err="1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同节点同步延迟近零；AReaL</a:t>
            </a:r>
            <a:r>
              <a:rPr lang="en-US" sz="13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 完全消除同步气泡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777240" y="4005072"/>
            <a:ext cx="7635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无优化：70B+ 模型同步气泡占迭代总时 5–10%；CUDA IPC 降至毫秒级；AReaL 以轻微 off-policy drift 为代价完全消除阻塞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548640" y="4526280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CC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参考来源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548640" y="4727448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OpenRLHF Hybrid Engine: github.com/OpenRLHF/OpenRLHF  |  Checkpoint-Engine: Anatomy of RL Frameworks 2025  |  AReaL 参数重分配: arXiv:2505.24298 (MLSys 2025)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CC0000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182880"/>
            <a:ext cx="411480" cy="411480"/>
          </a:xfrm>
          <a:prstGeom prst="rect">
            <a:avLst/>
          </a:prstGeom>
          <a:solidFill>
            <a:srgbClr val="2E8B57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828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097280" y="18288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E8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Rollout 效率优化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68580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 err="1">
                <a:solidFill>
                  <a:srgbClr val="CC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沙箱与环境</a:t>
            </a:r>
            <a:r>
              <a:rPr lang="zh-CN" altLang="en-US" sz="2400" b="1" dirty="0">
                <a:solidFill>
                  <a:srgbClr val="CC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治理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548640" y="1325880"/>
            <a:ext cx="8046720" cy="502920"/>
          </a:xfrm>
          <a:prstGeom prst="rect">
            <a:avLst/>
          </a:prstGeom>
          <a:solidFill>
            <a:srgbClr val="FFF0F0"/>
          </a:solidFill>
          <a:ln/>
        </p:spPr>
      </p:sp>
      <p:sp>
        <p:nvSpPr>
          <p:cNvPr id="8" name="Shape 6"/>
          <p:cNvSpPr/>
          <p:nvPr/>
        </p:nvSpPr>
        <p:spPr>
          <a:xfrm>
            <a:off x="548640" y="1325880"/>
            <a:ext cx="54864" cy="502920"/>
          </a:xfrm>
          <a:prstGeom prst="rect">
            <a:avLst/>
          </a:prstGeom>
          <a:solidFill>
            <a:srgbClr val="CC0000"/>
          </a:solidFill>
          <a:ln/>
        </p:spPr>
      </p:sp>
      <p:sp>
        <p:nvSpPr>
          <p:cNvPr id="9" name="Text 7"/>
          <p:cNvSpPr/>
          <p:nvPr/>
        </p:nvSpPr>
        <p:spPr>
          <a:xfrm>
            <a:off x="777240" y="1325880"/>
            <a:ext cx="7635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 err="1">
                <a:solidFill>
                  <a:srgbClr val="CC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核心问题</a:t>
            </a:r>
            <a:r>
              <a:rPr lang="en-US" sz="1200" b="1" dirty="0">
                <a:solidFill>
                  <a:srgbClr val="CC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：</a:t>
            </a:r>
            <a:r>
              <a:rPr lang="zh-CN" altLang="en-US" sz="1200" dirty="0">
                <a:solidFill>
                  <a:srgbClr val="1A1A1A"/>
                </a:solidFill>
                <a:latin typeface="Arial" pitchFamily="34" charset="0"/>
                <a:cs typeface="Arial" pitchFamily="34" charset="-120"/>
              </a:rPr>
              <a:t>在</a:t>
            </a:r>
            <a:r>
              <a:rPr lang="en-US" altLang="zh-CN" sz="1200" dirty="0">
                <a:solidFill>
                  <a:srgbClr val="1A1A1A"/>
                </a:solidFill>
                <a:latin typeface="Arial" pitchFamily="34" charset="0"/>
                <a:cs typeface="Arial" pitchFamily="34" charset="-120"/>
              </a:rPr>
              <a:t>Agentic RL</a:t>
            </a:r>
            <a:r>
              <a:rPr lang="zh-CN" altLang="en-US" sz="1200" dirty="0">
                <a:solidFill>
                  <a:srgbClr val="1A1A1A"/>
                </a:solidFill>
                <a:latin typeface="Arial" pitchFamily="34" charset="0"/>
                <a:cs typeface="Arial" pitchFamily="34" charset="-120"/>
              </a:rPr>
              <a:t>中，环境交互成为主要的延迟来源，导致</a:t>
            </a:r>
            <a:r>
              <a:rPr lang="en-US" altLang="zh-CN" sz="1200" dirty="0">
                <a:solidFill>
                  <a:srgbClr val="1A1A1A"/>
                </a:solidFill>
                <a:latin typeface="Arial" pitchFamily="34" charset="0"/>
                <a:cs typeface="Arial" pitchFamily="34" charset="-120"/>
              </a:rPr>
              <a:t>rollout pipeline</a:t>
            </a:r>
            <a:r>
              <a:rPr lang="zh-CN" altLang="en-US" sz="1200" dirty="0">
                <a:solidFill>
                  <a:srgbClr val="1A1A1A"/>
                </a:solidFill>
                <a:latin typeface="Arial" pitchFamily="34" charset="0"/>
                <a:cs typeface="Arial" pitchFamily="34" charset="-120"/>
              </a:rPr>
              <a:t>被环境阻塞，系统吞吐不稳定</a:t>
            </a:r>
            <a:endParaRPr lang="en-US" sz="1200" dirty="0">
              <a:solidFill>
                <a:srgbClr val="1A1A1A"/>
              </a:solidFill>
              <a:latin typeface="Arial" pitchFamily="34" charset="0"/>
              <a:cs typeface="Arial" pitchFamily="34" charset="-120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548640" y="1965960"/>
            <a:ext cx="2590800" cy="1508760"/>
          </a:xfrm>
          <a:prstGeom prst="rect">
            <a:avLst/>
          </a:prstGeom>
          <a:solidFill>
            <a:srgbClr val="F5F5F5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48640" y="1965960"/>
            <a:ext cx="2590800" cy="45720"/>
          </a:xfrm>
          <a:prstGeom prst="rect">
            <a:avLst/>
          </a:prstGeom>
          <a:solidFill>
            <a:srgbClr val="2E8B57"/>
          </a:solidFill>
          <a:ln/>
        </p:spPr>
      </p:sp>
      <p:sp>
        <p:nvSpPr>
          <p:cNvPr id="12" name="Text 10"/>
          <p:cNvSpPr/>
          <p:nvPr/>
        </p:nvSpPr>
        <p:spPr>
          <a:xfrm>
            <a:off x="685800" y="2075688"/>
            <a:ext cx="2316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ROLL Flash </a:t>
            </a:r>
            <a:r>
              <a:rPr lang="zh-CN" altLang="en-US" sz="13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（</a:t>
            </a:r>
            <a:r>
              <a:rPr lang="en-US" sz="13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300" b="1" dirty="0" err="1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异步</a:t>
            </a:r>
            <a:r>
              <a:rPr lang="zh-CN" altLang="en-US" sz="13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化）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85800" y="2404872"/>
            <a:ext cx="23164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altLang="zh-CN" sz="10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Rollout</a:t>
            </a:r>
            <a:r>
              <a:rPr lang="zh-CN" altLang="en-US" sz="10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与环境执行解耦，</a:t>
            </a:r>
            <a:r>
              <a:rPr lang="en-US" altLang="zh-CN" sz="10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GPU</a:t>
            </a:r>
            <a:r>
              <a:rPr lang="zh-CN" altLang="en-US" sz="10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持续生成，环境延迟不再阻塞</a:t>
            </a:r>
            <a:r>
              <a:rPr lang="en-US" sz="10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。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276600" y="1965960"/>
            <a:ext cx="2590800" cy="1508760"/>
          </a:xfrm>
          <a:prstGeom prst="rect">
            <a:avLst/>
          </a:prstGeom>
          <a:solidFill>
            <a:srgbClr val="F5F5F5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276600" y="1965960"/>
            <a:ext cx="2590800" cy="45720"/>
          </a:xfrm>
          <a:prstGeom prst="rect">
            <a:avLst/>
          </a:prstGeom>
          <a:solidFill>
            <a:srgbClr val="2E8B57"/>
          </a:solidFill>
          <a:ln/>
        </p:spPr>
      </p:sp>
      <p:sp>
        <p:nvSpPr>
          <p:cNvPr id="16" name="Text 14"/>
          <p:cNvSpPr/>
          <p:nvPr/>
        </p:nvSpPr>
        <p:spPr>
          <a:xfrm>
            <a:off x="3413760" y="2075688"/>
            <a:ext cx="2316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ROLLMUX </a:t>
            </a:r>
            <a:r>
              <a:rPr lang="zh-CN" altLang="en-US" sz="13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（</a:t>
            </a:r>
            <a:r>
              <a:rPr lang="en-US" sz="13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300" b="1" dirty="0" err="1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调度</a:t>
            </a:r>
            <a:r>
              <a:rPr lang="zh-CN" altLang="en-US" sz="13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优化</a:t>
            </a:r>
            <a:r>
              <a:rPr lang="en-US" sz="13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zh-CN" altLang="en-US" sz="13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）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413760" y="2404872"/>
            <a:ext cx="23164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相变感知调度：检测 Rollout-Heavy 与 Train-Heavy 阶段并重新分配 GPU。跨任务 GPU </a:t>
            </a:r>
            <a:r>
              <a:rPr lang="en-US" sz="1000" dirty="0" err="1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共享</a:t>
            </a:r>
            <a:r>
              <a:rPr lang="en-US" sz="10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。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004560" y="1965960"/>
            <a:ext cx="2590800" cy="1508760"/>
          </a:xfrm>
          <a:prstGeom prst="rect">
            <a:avLst/>
          </a:prstGeom>
          <a:solidFill>
            <a:srgbClr val="F5F5F5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004560" y="1965960"/>
            <a:ext cx="2590800" cy="45720"/>
          </a:xfrm>
          <a:prstGeom prst="rect">
            <a:avLst/>
          </a:prstGeom>
          <a:solidFill>
            <a:srgbClr val="2E8B57"/>
          </a:solidFill>
          <a:ln/>
        </p:spPr>
      </p:sp>
      <p:sp>
        <p:nvSpPr>
          <p:cNvPr id="20" name="Text 18"/>
          <p:cNvSpPr/>
          <p:nvPr/>
        </p:nvSpPr>
        <p:spPr>
          <a:xfrm>
            <a:off x="6141720" y="2075688"/>
            <a:ext cx="2316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 err="1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环境池</a:t>
            </a:r>
            <a:r>
              <a:rPr lang="zh-CN" altLang="en-US" sz="13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化与</a:t>
            </a:r>
            <a:r>
              <a:rPr lang="en-US" sz="1300" b="1" dirty="0" err="1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预热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141720" y="2404872"/>
            <a:ext cx="23164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 err="1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预初始化</a:t>
            </a:r>
            <a:r>
              <a:rPr lang="en-US" altLang="zh-CN" sz="1000" dirty="0" err="1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sandbox</a:t>
            </a:r>
            <a:r>
              <a:rPr lang="en-US" altLang="zh-CN" sz="10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/ </a:t>
            </a:r>
            <a:r>
              <a:rPr lang="en-US" sz="10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Docker </a:t>
            </a:r>
            <a:r>
              <a:rPr lang="en-US" sz="1000" dirty="0" err="1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容器</a:t>
            </a:r>
            <a:r>
              <a:rPr lang="zh-CN" altLang="en-US" sz="10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，</a:t>
            </a:r>
            <a:r>
              <a:rPr lang="en-US" sz="1000" dirty="0" err="1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消除冷启动延迟。环境</a:t>
            </a:r>
            <a:r>
              <a:rPr lang="zh-CN" altLang="en-US" sz="10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并行</a:t>
            </a:r>
            <a:r>
              <a:rPr lang="en-US" sz="1000" dirty="0" err="1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执行</a:t>
            </a:r>
            <a:r>
              <a:rPr lang="zh-CN" altLang="en-US" sz="10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，</a:t>
            </a:r>
            <a:r>
              <a:rPr lang="en-US" sz="1000" dirty="0" err="1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掩盖单个</a:t>
            </a:r>
            <a:r>
              <a:rPr lang="zh-CN" altLang="en-US" sz="10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环境</a:t>
            </a:r>
            <a:r>
              <a:rPr lang="en-US" sz="10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000" dirty="0" err="1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卡顿</a:t>
            </a:r>
            <a:r>
              <a:rPr lang="en-US" sz="10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。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548640" y="3657600"/>
            <a:ext cx="8046720" cy="731520"/>
          </a:xfrm>
          <a:prstGeom prst="rect">
            <a:avLst/>
          </a:prstGeom>
          <a:solidFill>
            <a:srgbClr val="F0FFF4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548640" y="3657600"/>
            <a:ext cx="54864" cy="731520"/>
          </a:xfrm>
          <a:prstGeom prst="rect">
            <a:avLst/>
          </a:prstGeom>
          <a:solidFill>
            <a:srgbClr val="2E8B57"/>
          </a:solidFill>
          <a:ln/>
        </p:spPr>
      </p:sp>
      <p:sp>
        <p:nvSpPr>
          <p:cNvPr id="24" name="Text 22"/>
          <p:cNvSpPr/>
          <p:nvPr/>
        </p:nvSpPr>
        <p:spPr>
          <a:xfrm>
            <a:off x="777240" y="3675888"/>
            <a:ext cx="7635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 err="1">
                <a:solidFill>
                  <a:srgbClr val="2E8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预期收益：</a:t>
            </a:r>
            <a:r>
              <a:rPr lang="en-US" sz="1300" b="1" dirty="0" err="1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</a:t>
            </a:r>
            <a:r>
              <a:rPr lang="en-US" sz="13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任务 1.81–2.72x </a:t>
            </a:r>
            <a:r>
              <a:rPr lang="en-US" sz="1300" b="1" dirty="0" err="1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加速；集群利用率</a:t>
            </a:r>
            <a:r>
              <a:rPr lang="zh-CN" altLang="en-US" sz="13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提升</a:t>
            </a:r>
            <a:r>
              <a:rPr lang="en-US" sz="13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1.38–1.84x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777240" y="4005072"/>
            <a:ext cx="7635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核心洞察：环境交互时间是“免费”并行机会。预热消除影响 10% 迭代的 ~100s Docker 卡顿。ROLLMUX 将异构负载从干扰变为协同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548640" y="4526280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CC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参考来源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548640" y="4727448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ROLL Flash: arXiv:2510.11345 (Alibaba, 2025)  |  ROLLMUX / RLix: arXiv:2512.11306 (Alibaba/ROLL, 2025)  |  RollArt 硬件亲和: arXiv:2512.22560 (Alibaba, 2025)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147</TotalTime>
  <Words>2084</Words>
  <Application>Microsoft Office PowerPoint</Application>
  <PresentationFormat>On-screen Show (16:9)</PresentationFormat>
  <Paragraphs>159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7" baseType="lpstr">
      <vt:lpstr>DengXian</vt:lpstr>
      <vt:lpstr>Microsoft YaHei</vt:lpstr>
      <vt:lpstr>Arial</vt:lpstr>
      <vt:lpstr>Arial Black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Agentic RL - 技术方案详解</dc:title>
  <dc:subject>PptxGenJS Presentation</dc:subject>
  <dc:creator>Weiwei</dc:creator>
  <cp:lastModifiedBy>Weiwei Zhang (A)</cp:lastModifiedBy>
  <cp:revision>14</cp:revision>
  <dcterms:created xsi:type="dcterms:W3CDTF">2026-04-05T23:31:02Z</dcterms:created>
  <dcterms:modified xsi:type="dcterms:W3CDTF">2026-04-06T02:02:29Z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_readonly">
    <vt:lpwstr/>
  </property>
  <property fmtid="{D5CDD505-2E9C-101B-9397-08002B2CF9AE}" pid="3" name="_change">
    <vt:lpwstr/>
  </property>
  <property fmtid="{D5CDD505-2E9C-101B-9397-08002B2CF9AE}" pid="4" name="_full-control">
    <vt:lpwstr/>
  </property>
  <property fmtid="{D5CDD505-2E9C-101B-9397-08002B2CF9AE}" pid="5" name="sflag">
    <vt:lpwstr>1774587855</vt:lpwstr>
  </property>
</Properties>
</file>