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Agent 从概念验证走向规模落地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</a:defRPr>
            </a:pPr>
            <a:r>
              <a:t>AI 产业进入做事时代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D6"/>
                </a:solidFill>
              </a:defRPr>
            </a:pPr>
            <a:r>
              <a:t>从能聊到能做的分水岭已经跨过，Agent 是载体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474720" cy="3200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</a:defRPr>
            </a:pPr>
            <a:r>
              <a:t>产品已落地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6032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2024.3 Devin</a:t>
            </a:r>
            <a:br/>
            <a:r>
              <a:t>2025.1 Operator-&gt;Agent Mode</a:t>
            </a:r>
            <a:br/>
            <a:r>
              <a:t>2025.3 Manus</a:t>
            </a:r>
            <a:br/>
            <a:r>
              <a:t>2025.7 ChatGPT Agent Mode</a:t>
            </a:r>
            <a:br/>
            <a:r>
              <a:t>2025.10 Claude Computer Use GA</a:t>
            </a:r>
            <a:br/>
            <a:br/>
            <a:r>
              <a:t>节奏在加快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103120"/>
            <a:ext cx="3474720" cy="3200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</a:defRPr>
            </a:pPr>
            <a:r>
              <a:t>开源正在引爆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56032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Claude Code 51万行源码泄露</a:t>
            </a:r>
            <a:br/>
            <a:r>
              <a:t>OpenClaw 24.7万星</a:t>
            </a:r>
            <a:br/>
            <a:r>
              <a:t>开源小模型追平大模型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2103120"/>
            <a:ext cx="3474720" cy="3200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</a:defRPr>
            </a:pPr>
            <a:r>
              <a:t>巨头真金白银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56032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Anthropic 讨论年投$1B+</a:t>
            </a:r>
            <a:br/>
            <a:r>
              <a:t>OpenAI RFT公开发布</a:t>
            </a:r>
            <a:br/>
            <a:r>
              <a:t>Google Gemini 2.5 Agent RL</a:t>
            </a:r>
            <a:br/>
            <a:r>
              <a:t>Microsoft Copilot-&gt;Agent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126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</a:defRPr>
            </a:pPr>
            <a:r>
              <a:t>产品/开源/资本三维爆发 -&gt; Agent 时代已来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从 SFT 到 Agentic RL：Agent 能力提升的关键路径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3200400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</a:defRPr>
            </a:pPr>
            <a:r>
              <a:t>SFT/RLHF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73736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模型:GPT-4/Llama-2</a:t>
            </a:r>
            <a:br/>
            <a:r>
              <a:t>算力:&lt;5% 场景:3-5种</a:t>
            </a:r>
            <a:br/>
            <a:br/>
            <a:r>
              <a:t>X 天花板:状态空间大</a:t>
            </a:r>
            <a:br/>
            <a:r>
              <a:t>  能教模仿不能教决策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6D6"/>
                </a:solidFill>
              </a:defRPr>
            </a:pPr>
            <a:r>
              <a:t>-&gt;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280160"/>
            <a:ext cx="3200400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</a:defRPr>
            </a:pPr>
            <a:r>
              <a:t>DPO/KTO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73736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模型:Llama3.3/Qwen-2.5</a:t>
            </a:r>
            <a:br/>
            <a:r>
              <a:t>算力:5-15% 场景:5-10种</a:t>
            </a:r>
            <a:br/>
            <a:br/>
            <a:r>
              <a:t>X 天花板:奖励来自</a:t>
            </a:r>
            <a:br/>
            <a:r>
              <a:t>  环境不来自偏好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6D6"/>
                </a:solidFill>
              </a:defRPr>
            </a:pPr>
            <a:r>
              <a:t>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1280160"/>
            <a:ext cx="3931920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</a:defRPr>
            </a:pPr>
            <a:r>
              <a:t>Agentic RL 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737360"/>
            <a:ext cx="3657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模型:GPT-5.4/Claude Opus 4.6</a:t>
            </a:r>
            <a:br/>
            <a:r>
              <a:t>算力:40%+ 场景:50+种</a:t>
            </a:r>
            <a:br/>
            <a:br/>
            <a:r>
              <a:t>V 不可替代的关键环节</a:t>
            </a:r>
            <a:br/>
            <a:r>
              <a:t>  环境反馈+从错误中学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</a:defRPr>
            </a:pPr>
            <a:r>
              <a:t>Harness的能力图就是未来模型后训练的负载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80560"/>
            <a:ext cx="10972800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572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</a:defRPr>
            </a:pPr>
            <a:r>
              <a:t>能力飞轮 + 巨头验证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937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模型更强-&gt;做事-&gt;轨迹-&gt;反馈-&gt;更新  |  Anthropic投环境  |  OpenAI开放grader  |  Google全流程RL  |  Cursor用RL自研超Opus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</a:defRPr>
            </a:pPr>
            <a:r>
              <a:t>Agentic RL = Agent能力提升的不可替代路径 -&gt; 但直接搬LLM RL到Agent会结构性失配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范式跃迁：七维变化 -&gt; 五个核心挑战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02920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</a:defRPr>
            </a:pPr>
            <a:r>
              <a:t>七维对比（LLM RL -&gt; Agentic RL）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64592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1.算力: 训练为主 -&gt; 推理90%+</a:t>
            </a:r>
            <a:br/>
            <a:r>
              <a:t>2.循环: 开环 -&gt; 闭环(分钟级)</a:t>
            </a:r>
            <a:br/>
            <a:r>
              <a:t>3.环境: 无 -&gt; 真实(sandbox/工具链)</a:t>
            </a:r>
            <a:br/>
            <a:r>
              <a:t>4.数据: 标注 -&gt; 在线轨迹</a:t>
            </a:r>
            <a:br/>
            <a:r>
              <a:t>5.奖励: 人评 -&gt; 环境验证</a:t>
            </a:r>
            <a:br/>
            <a:r>
              <a:t>6.探索: KL约束 -&gt; 大探索空间</a:t>
            </a:r>
            <a:br/>
            <a:r>
              <a:t>7.上下文: 短 -&gt; M级长程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5943600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1280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</a:defRPr>
            </a:pPr>
            <a:r>
              <a:t>1 长序列推理开销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645920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M级context下KV Cache数GB，单步推理计算量和内存爆炸  *****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2011680"/>
            <a:ext cx="5943600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21031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</a:defRPr>
            </a:pPr>
            <a:r>
              <a:t>2 环境交互延迟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468880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闭环多轮串行+真实环境不可控，Episode耗时分钟级  ****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834640"/>
            <a:ext cx="5943600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29260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</a:defRPr>
            </a:pPr>
            <a:r>
              <a:t>3 在线数据吞吐瓶颈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3291840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on-policy数据产生速率被推理和环境速度卡死  ****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3657600"/>
            <a:ext cx="5943600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3749039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</a:defRPr>
            </a:pPr>
            <a:r>
              <a:t>4 探索效率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4114800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巨大策略空间中有效轨迹比例极低，算力浪费  ***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4480560"/>
            <a:ext cx="5943600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4572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</a:defRPr>
            </a:pPr>
            <a:r>
              <a:t>5 稀疏延迟奖励的归因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4937760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奖励在Episode末端，中间几十步无信号  ***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5394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</a:defRPr>
            </a:pPr>
            <a:r>
              <a:t>横切: 数值可信 -- 穿透所有挑战，RL对数值噪声极敏感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126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</a:defRPr>
            </a:pPr>
            <a:r>
              <a:t>5个挑战驱动后训练软件栈三层架构全面升级 -&gt; P4展开因果传导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P4 | Architecture Map: 9 Upgrade Directions on the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0B8C8"/>
                </a:solidFill>
              </a:defRPr>
            </a:pPr>
            <a:r>
              <a:t>Left: Agent RL Training Stack | Right: 9 Upgrades mapped to Architecture (3-3-3)</a:t>
            </a:r>
          </a:p>
        </p:txBody>
      </p:sp>
      <p:pic>
        <p:nvPicPr>
          <p:cNvPr id="5" name="Picture 4" descr="P4_arch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486400" cy="5486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52160" y="914400"/>
            <a:ext cx="36576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0" y="914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914400"/>
            <a:ext cx="201168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914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Upgrade Direction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914400"/>
            <a:ext cx="109728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914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Challenge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914400"/>
            <a:ext cx="256032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914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Key 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243584"/>
            <a:ext cx="6217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>
                <a:solidFill>
                  <a:srgbClr val="0096D6"/>
                </a:solidFill>
              </a:defRPr>
            </a:pPr>
            <a:r>
              <a:t>Infrastructure 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1380743"/>
            <a:ext cx="36576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1380743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6D6"/>
                </a:solidFill>
              </a:defRPr>
            </a:pPr>
            <a:r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80743"/>
            <a:ext cx="201168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380743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KV Cache Storage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380743"/>
            <a:ext cx="109728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380743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1,2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1380743"/>
            <a:ext cx="256032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380743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LMCache / Mooncake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1764792"/>
            <a:ext cx="36576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176479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6D6"/>
                </a:solidFill>
              </a:defRPr>
            </a:pPr>
            <a:r>
              <a:t>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764792"/>
            <a:ext cx="201168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76479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Sandbox Orchestration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764792"/>
            <a:ext cx="109728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176479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1764792"/>
            <a:ext cx="256032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17647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Forge / Pool+Preheat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2267712"/>
            <a:ext cx="36576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226771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6D6"/>
                </a:solidFill>
              </a:defRPr>
            </a:pPr>
            <a:r>
              <a:t>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267712"/>
            <a:ext cx="201168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22677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Operator Precision Align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2267712"/>
            <a:ext cx="109728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226771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2267712"/>
            <a:ext cx="256032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226771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CANN/CUDA diff / R3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2752344"/>
            <a:ext cx="6217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>
                <a:solidFill>
                  <a:srgbClr val="00C853"/>
                </a:solidFill>
              </a:defRPr>
            </a:pPr>
            <a:r>
              <a:t>Framework Layer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52160" y="2889504"/>
            <a:ext cx="36576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52160" y="288950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C853"/>
                </a:solidFill>
              </a:defRPr>
            </a:pPr>
            <a:r>
              <a:t>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889504"/>
            <a:ext cx="201168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288950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Inference Acceleration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2889504"/>
            <a:ext cx="109728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288950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26880" y="2889504"/>
            <a:ext cx="256032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0" y="288950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Eagle3 / 4bit Quant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52160" y="3273552"/>
            <a:ext cx="36576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52160" y="327355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C853"/>
                </a:solidFill>
              </a:defRPr>
            </a:pPr>
            <a:r>
              <a:t>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3273552"/>
            <a:ext cx="201168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32735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Train-Infer Orchestration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3273552"/>
            <a:ext cx="109728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0" y="327355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2,3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26880" y="3273552"/>
            <a:ext cx="256032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26880" y="32735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ProRL Agent / Dynamo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52160" y="3776472"/>
            <a:ext cx="36576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52160" y="377647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C853"/>
                </a:solidFill>
              </a:defRPr>
            </a:pPr>
            <a:r>
              <a:t>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3776472"/>
            <a:ext cx="201168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0" y="37764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Long-tail Rollout Mgmt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600" y="3776472"/>
            <a:ext cx="109728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0" y="377647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2,3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26880" y="3776472"/>
            <a:ext cx="256032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26880" y="37764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Tail Batch / Partial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60720" y="4261104"/>
            <a:ext cx="6217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>
                <a:solidFill>
                  <a:srgbClr val="FF8C00"/>
                </a:solidFill>
              </a:defRPr>
            </a:pPr>
            <a:r>
              <a:t>Algorithm Layer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52160" y="4398264"/>
            <a:ext cx="36576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52160" y="439826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C00"/>
                </a:solidFill>
              </a:defRPr>
            </a:pPr>
            <a:r>
              <a:t>F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17920" y="4398264"/>
            <a:ext cx="201168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0" y="439826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Off-policy Tolerance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9600" y="4398264"/>
            <a:ext cx="109728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29600" y="43982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3,4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26880" y="4398264"/>
            <a:ext cx="256032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326880" y="439826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DecPPO / DAPO+CISPO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852160" y="4782312"/>
            <a:ext cx="36576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52160" y="478231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C00"/>
                </a:solidFill>
              </a:defRPr>
            </a:pPr>
            <a:r>
              <a:t>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17920" y="4782312"/>
            <a:ext cx="201168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17920" y="47823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Step-level Attribution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29600" y="4782312"/>
            <a:ext cx="109728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29600" y="478231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326880" y="4782312"/>
            <a:ext cx="256032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326880" y="478231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Cursor RL / Meta SSR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852160" y="5285232"/>
            <a:ext cx="36576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852160" y="528523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C00"/>
                </a:solidFill>
              </a:defRPr>
            </a:pPr>
            <a:r>
              <a:t>H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17920" y="5285232"/>
            <a:ext cx="201168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17920" y="52852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Context Self-Compression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29600" y="5285232"/>
            <a:ext cx="109728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29600" y="528523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26880" y="5285232"/>
            <a:ext cx="2560320" cy="384048"/>
          </a:xfrm>
          <a:prstGeom prst="rect">
            <a:avLst/>
          </a:prstGeom>
          <a:solidFill>
            <a:srgbClr val="15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326880" y="52852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0B8C8"/>
                </a:solidFill>
              </a:defRPr>
            </a:pPr>
            <a:r>
              <a:t>Self-summarization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基础设施层升级概览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</a:defRPr>
            </a:pPr>
            <a:r>
              <a:t>挑战1+2驱动: KV池化+推理加速+sandbox并行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</a:defRPr>
            </a:pPr>
            <a:r>
              <a:t>KV Cache分布式池化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单Agent会话KV数GB</a:t>
            </a:r>
            <a:br/>
            <a:r>
              <a:t>千并发撑爆显存</a:t>
            </a:r>
            <a:br/>
            <a:r>
              <a:t>必须跨节点池化</a:t>
            </a:r>
            <a:br/>
            <a:r>
              <a:t>-&gt; LMCache+Mooncake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</a:defRPr>
            </a:pPr>
            <a:r>
              <a:t>推理加速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90%算力在推理</a:t>
            </a:r>
            <a:br/>
            <a:r>
              <a:t>70B模型不量化放不下</a:t>
            </a:r>
            <a:br/>
            <a:r>
              <a:t>串行decode瓶颈</a:t>
            </a:r>
            <a:br/>
            <a:r>
              <a:t>-&gt; Eagle3+4bit量化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</a:defRPr>
            </a:pPr>
            <a:r>
              <a:t>sandbox并行化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EP分钟级串行等待</a:t>
            </a:r>
            <a:br/>
            <a:r>
              <a:t>环境不可控+偏差</a:t>
            </a:r>
            <a:br/>
            <a:r>
              <a:t>-&gt; Forge框架级编排</a:t>
            </a:r>
            <a:br/>
            <a:r>
              <a:t>-&gt; 行业空白=我们的机会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126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</a:defRPr>
            </a:pPr>
            <a:r>
              <a:t>基础设施层3个升级方向: KV池化+推理加速+sandbox并行 -&gt; 逐一展开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LMCache + Mooncake: KV Cache池化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</a:defRPr>
            </a:pPr>
            <a:r>
              <a:t>KV Cache不应是引擎私有资源，而应是集群级共享池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4040"/>
                </a:solidFill>
              </a:defRPr>
            </a:pPr>
            <a:r>
              <a:t>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每个推理引擎独立KV</a:t>
            </a:r>
            <a:br/>
            <a:r>
              <a:t>同一prefix多引擎重复计算</a:t>
            </a:r>
            <a:br/>
            <a:r>
              <a:t>Agent场景95%+可复用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</a:defRPr>
            </a:pPr>
            <a:r>
              <a:t>LMCache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P2P跨引擎共享KV</a:t>
            </a:r>
            <a:br/>
            <a:r>
              <a:t>Cache Offloading多级卸载</a:t>
            </a:r>
            <a:br/>
            <a:r>
              <a:t>标准化存取API</a:t>
            </a:r>
            <a:br/>
            <a:r>
              <a:t>实测:15x吞吐提升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</a:defRPr>
            </a:pPr>
            <a:r>
              <a:t>Mooncake(月之暗面)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RDMA+分布式KV Store</a:t>
            </a:r>
            <a:br/>
            <a:r>
              <a:t>prefill-decode物理分离</a:t>
            </a:r>
            <a:br/>
            <a:r>
              <a:t>千卡规模生产部署</a:t>
            </a:r>
            <a:br/>
            <a:r>
              <a:t>HCCS天然适配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Eagle3 + 4bit量化: 推理加速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</a:defRPr>
            </a:pPr>
            <a:r>
              <a:t>投机解码+量化是Agent RL推理侧的标配优化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</a:defRPr>
            </a:pPr>
            <a:r>
              <a:t>Eagle3投机解码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draft+verify范式</a:t>
            </a:r>
            <a:br/>
            <a:r>
              <a:t>2-3x解码加速</a:t>
            </a:r>
            <a:br/>
            <a:r>
              <a:t>Google/AWS/NVIDIA生产部署</a:t>
            </a:r>
            <a:br/>
            <a:r>
              <a:t>vLLM/SGLang原生支持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</a:defRPr>
            </a:pPr>
            <a:r>
              <a:t>4bit(mxfp8/mxfp4)量化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显存压缩4x</a:t>
            </a:r>
            <a:br/>
            <a:r>
              <a:t>70B模型单卡可推理</a:t>
            </a:r>
            <a:br/>
            <a:r>
              <a:t>量化是被迫选择非激进</a:t>
            </a:r>
            <a:br/>
            <a:r>
              <a:t>需精度恢复算法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</a:defRPr>
            </a:pPr>
            <a:r>
              <a:t>NPU启示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Eagle3需在910C验证</a:t>
            </a:r>
            <a:br/>
            <a:r>
              <a:t>结构化输出准确率待测</a:t>
            </a:r>
            <a:br/>
            <a:r>
              <a:t>4bit kernel需CANN适配</a:t>
            </a:r>
            <a:br/>
            <a:r>
              <a:t>我们的技术切入点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Forge: sandbox并行化 + 行业空白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</a:defRPr>
            </a:pPr>
            <a:r>
              <a:t>基础设施层是业界投入最薄弱的环节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</a:defRPr>
            </a:pPr>
            <a:r>
              <a:t>Forge(MiniMax)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Agent-环境解耦框架</a:t>
            </a:r>
            <a:br/>
            <a:r>
              <a:t>200K上下文支持</a:t>
            </a:r>
            <a:br/>
            <a:r>
              <a:t>百万级日吞吐</a:t>
            </a:r>
            <a:br/>
            <a:r>
              <a:t>40x训练加速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4040"/>
                </a:solidFill>
              </a:defRPr>
            </a:pPr>
            <a:r>
              <a:t>行业空白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精度/算子/框架层</a:t>
            </a:r>
            <a:br/>
            <a:r>
              <a:t>业界技术供给不足</a:t>
            </a:r>
            <a:br/>
            <a:r>
              <a:t>基础设施层只有Forge</a:t>
            </a:r>
            <a:br/>
            <a:r>
              <a:t>-&gt; 这是我们的机会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</a:defRPr>
            </a:pPr>
            <a:r>
              <a:t>我们的定位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Ascend精度基线</a:t>
            </a:r>
            <a:br/>
            <a:r>
              <a:t>算子自动生成+验证</a:t>
            </a:r>
            <a:br/>
            <a:r>
              <a:t>RL框架易用性</a:t>
            </a:r>
            <a:br/>
            <a:r>
              <a:t>Agent hardness工程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框架层升级概览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</a:defRPr>
            </a:pPr>
            <a:r>
              <a:t>挑战2+3驱动: 训推解耦+异步调度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</a:defRPr>
            </a:pPr>
            <a:r>
              <a:t>训推解耦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Rollout和Trainer耦合</a:t>
            </a:r>
            <a:br/>
            <a:r>
              <a:t>环境I/O阻塞GPU训练</a:t>
            </a:r>
            <a:br/>
            <a:r>
              <a:t>必须服务化解耦</a:t>
            </a:r>
            <a:br/>
            <a:r>
              <a:t>-&gt; ProRL 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</a:defRPr>
            </a:pPr>
            <a:r>
              <a:t>异步流水线+KV感知调度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EP分钟级不可同步等</a:t>
            </a:r>
            <a:br/>
            <a:r>
              <a:t>流式数据产生需编排</a:t>
            </a:r>
            <a:br/>
            <a:r>
              <a:t>请求要去有KV的节点</a:t>
            </a:r>
            <a:br/>
            <a:r>
              <a:t>-&gt; Dynamo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</a:defRPr>
            </a:pPr>
            <a:r>
              <a:t>框架层关键判断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训推解耦是所有Agent RL</a:t>
            </a:r>
            <a:br/>
            <a:r>
              <a:t>的公共底座</a:t>
            </a:r>
            <a:br/>
            <a:r>
              <a:t>先做这个再叠算法优化</a:t>
            </a:r>
            <a:br/>
            <a:r>
              <a:t>-&gt; 我们的第一优先级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126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</a:defRPr>
            </a:pPr>
            <a:r>
              <a:t>框架层2个升级方向: 训推解耦+异步调度 -&gt; 逐一展开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ProRL Agent: Rollout-as-a-Service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</a:defRPr>
            </a:pPr>
            <a:r>
              <a:t>NVIDIA终结耦合式Agent RL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4040"/>
                </a:solidFill>
              </a:defRPr>
            </a:pPr>
            <a:r>
              <a:t>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Rollout和Trainer耦合</a:t>
            </a:r>
            <a:br/>
            <a:r>
              <a:t>环境I/O阻塞GPU训练</a:t>
            </a:r>
            <a:br/>
            <a:r>
              <a:t>工具调用延迟不确定</a:t>
            </a:r>
            <a:br/>
            <a:r>
              <a:t>GPU大量空转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</a:defRPr>
            </a:pPr>
            <a:r>
              <a:t>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Rollout独立为HTTP服务</a:t>
            </a:r>
            <a:br/>
            <a:r>
              <a:t>INIT/RUN/EVAL三阶段</a:t>
            </a:r>
            <a:br/>
            <a:r>
              <a:t>Token-in/token-out一致性</a:t>
            </a:r>
            <a:br/>
            <a:r>
              <a:t>SWE-Bench 9.6%-&gt;18.0%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</a:defRPr>
            </a:pPr>
            <a:r>
              <a:t>NPU启示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第一优先级适配目标</a:t>
            </a:r>
            <a:br/>
            <a:r>
              <a:t>vllm-ascend技术栈复用</a:t>
            </a:r>
            <a:br/>
            <a:r>
              <a:t>Singularity-&gt;Docker适配</a:t>
            </a:r>
            <a:br/>
            <a:r>
              <a:t>HTTP延迟需co-located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Dynamo: KV感知异步调度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</a:defRPr>
            </a:pPr>
            <a:r>
              <a:t>推理调度从哪个空闲变成哪个有我的KV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4040"/>
                </a:solidFill>
              </a:defRPr>
            </a:pPr>
            <a:r>
              <a:t>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标准负载均衡不知KV分布</a:t>
            </a:r>
            <a:br/>
            <a:r>
              <a:t>导致重复Prefill计算</a:t>
            </a:r>
            <a:br/>
            <a:r>
              <a:t>Agent多轮95%+可复用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</a:defRPr>
            </a:pPr>
            <a:r>
              <a:t>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Radix Tree追踪全集群KV</a:t>
            </a:r>
            <a:br/>
            <a:r>
              <a:t>NIXL点对点KV传输</a:t>
            </a:r>
            <a:br/>
            <a:r>
              <a:t>多层级内存管理</a:t>
            </a:r>
            <a:br/>
            <a:r>
              <a:t>Prefill-Decode分离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</a:defRPr>
            </a:pPr>
            <a:r>
              <a:t>NPU启示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NPU推理引擎需支持</a:t>
            </a:r>
            <a:br/>
            <a:r>
              <a:t>KV cache元数据暴露</a:t>
            </a:r>
            <a:br/>
            <a:r>
              <a:t>跨节点迁移能力</a:t>
            </a:r>
            <a:br/>
            <a:r>
              <a:t>HCCS是差异化机会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算法层升级概览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</a:defRPr>
            </a:pPr>
            <a:r>
              <a:t>挑战1+4+5驱动: off-policy容忍+步级归因+上下文自压缩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</a:defRPr>
            </a:pPr>
            <a:r>
              <a:t>off-policy容忍+多样性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异步数据天然过时</a:t>
            </a:r>
            <a:br/>
            <a:r>
              <a:t>importance ratio失真</a:t>
            </a:r>
            <a:br/>
            <a:r>
              <a:t>&gt;4步策略差训练发散</a:t>
            </a:r>
            <a:br/>
            <a:r>
              <a:t>-&gt; Decoupled PPO+DAPO+CISPO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</a:defRPr>
            </a:pPr>
            <a:r>
              <a:t>步级奖励+精细归因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84%算力浪费非关键步骤</a:t>
            </a:r>
            <a:br/>
            <a:r>
              <a:t>轨迹级奖励太粗</a:t>
            </a:r>
            <a:br/>
            <a:r>
              <a:t>无法区分碰巧vs学会</a:t>
            </a:r>
            <a:br/>
            <a:r>
              <a:t>-&gt; Cursor实时RL+Meta SSR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</a:defRPr>
            </a:pPr>
            <a:r>
              <a:t>上下文自压缩(h)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M级上下文推理开销爆炸</a:t>
            </a:r>
            <a:br/>
            <a:r>
              <a:t>模型通过RL学会自主压缩</a:t>
            </a:r>
            <a:br/>
            <a:r>
              <a:t>Composer 2: 200K-&gt;1K</a:t>
            </a:r>
            <a:br/>
            <a:r>
              <a:t>compaction error降50%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126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</a:defRPr>
            </a:pPr>
            <a:r>
              <a:t>算法层2个升级方向: off-policy容忍+步级归因 -&gt; 逐一展开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Decoupled PPO + DAPO + CISPO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</a:defRPr>
            </a:pPr>
            <a:r>
              <a:t>off-policy容忍: 基础架构+工业级改进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</a:defRPr>
            </a:pPr>
            <a:r>
              <a:t>Decoupled PPO(基础)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Actor-Learner物理分离</a:t>
            </a:r>
            <a:br/>
            <a:r>
              <a:t>V-trace截断IS修正</a:t>
            </a:r>
            <a:br/>
            <a:r>
              <a:t>IW裁剪控制偏差</a:t>
            </a:r>
            <a:br/>
            <a:r>
              <a:t>所有异步RL的基础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</a:defRPr>
            </a:pPr>
            <a:r>
              <a:t>DAPO(ByteDance)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Clip-Higher解耦裁剪</a:t>
            </a:r>
            <a:br/>
            <a:r>
              <a:t>Dynamic Sampling过滤</a:t>
            </a:r>
            <a:br/>
            <a:r>
              <a:t>Token-level梯度</a:t>
            </a:r>
            <a:br/>
            <a:r>
              <a:t>-&gt; OpenRLHF事实标准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</a:defRPr>
            </a:pPr>
            <a:r>
              <a:t>CISPO(MiniMax)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IS权重精细裁剪</a:t>
            </a:r>
            <a:br/>
            <a:r>
              <a:t>200K上下文验证</a:t>
            </a:r>
            <a:br/>
            <a:r>
              <a:t>比DAPO快2x</a:t>
            </a:r>
            <a:br/>
            <a:r>
              <a:t>-&gt; M2.5 SWE-Bench 80.2%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Cursor实时RL + Meta Self-Play SWE-RL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</a:defRPr>
            </a:pPr>
            <a:r>
              <a:t>步级归因: 闭环训练+零标注自博弈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</a:defRPr>
            </a:pPr>
            <a:r>
              <a:t>Cursor Composer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production harness中RL</a:t>
            </a:r>
            <a:br/>
            <a:r>
              <a:t>self-summarization 200K-&gt;1K</a:t>
            </a:r>
            <a:br/>
            <a:r>
              <a:t>compaction error降50%</a:t>
            </a:r>
            <a:br/>
            <a:r>
              <a:t>5小时端到端闭环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</a:defRPr>
            </a:pPr>
            <a:r>
              <a:t>Meta SSR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零人工标注</a:t>
            </a:r>
            <a:br/>
            <a:r>
              <a:t>自博弈+环境验证</a:t>
            </a:r>
            <a:br/>
            <a:r>
              <a:t>ICLR 2026</a:t>
            </a:r>
            <a:br/>
            <a:r>
              <a:t>SWE-Bench显著提升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371600"/>
            <a:ext cx="3474720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</a:defRPr>
            </a:pPr>
            <a:r>
              <a:t>NPU启示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8288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Agent RL评估信号</a:t>
            </a:r>
            <a:br/>
            <a:r>
              <a:t>来自环境闭环不需人标注</a:t>
            </a:r>
            <a:br/>
            <a:r>
              <a:t>密集闭环天然含过程信号</a:t>
            </a:r>
            <a:br/>
            <a:r>
              <a:t>部分替代独立PRM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全栈协同：Agentic RL 对 NPU 基础设施提出的新要求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D6"/>
                </a:solidFill>
              </a:defRPr>
            </a:pPr>
            <a:r>
              <a:t>五个挑战驱动七个升级，没有一个能靠单点解决。全栈协同是价值锚点。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011680"/>
            <a:ext cx="3657600" cy="2743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</a:defRPr>
            </a:pPr>
            <a:r>
              <a:t>基础设施层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468880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挑战1+2驱动</a:t>
            </a:r>
            <a:br/>
            <a:br/>
            <a:r>
              <a:t>关键能力:</a:t>
            </a:r>
            <a:br/>
            <a:r>
              <a:t>- KV cache跨节点池化</a:t>
            </a:r>
            <a:br/>
            <a:r>
              <a:t>- 投机解码+量化加速</a:t>
            </a:r>
            <a:br/>
            <a:r>
              <a:t>- sandbox并行编排</a:t>
            </a:r>
            <a:br/>
            <a:r>
              <a:t>- 行业空白=我们的机会</a:t>
            </a:r>
            <a:br/>
            <a:br/>
            <a:r>
              <a:t>技术参考:</a:t>
            </a:r>
            <a:br/>
            <a:r>
              <a:t>LMCache/Mooncake/Eagle3/Forge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2011680"/>
            <a:ext cx="3657600" cy="2743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</a:defRPr>
            </a:pPr>
            <a:r>
              <a:t>框架层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468880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挑战2+3驱动</a:t>
            </a:r>
            <a:br/>
            <a:br/>
            <a:r>
              <a:t>关键能力:</a:t>
            </a:r>
            <a:br/>
            <a:r>
              <a:t>- Rollout服务化</a:t>
            </a:r>
            <a:br/>
            <a:r>
              <a:t>- KV感知异步调度</a:t>
            </a:r>
            <a:br/>
            <a:r>
              <a:t>- 训推一致性保证</a:t>
            </a:r>
            <a:br/>
            <a:br/>
            <a:r>
              <a:t>技术参考:</a:t>
            </a:r>
            <a:br/>
            <a:r>
              <a:t>ProRL Agent/Dynamo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011680"/>
            <a:ext cx="3657600" cy="2743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</a:defRPr>
            </a:pPr>
            <a:r>
              <a:t>算法层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468880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</a:defRPr>
            </a:pPr>
            <a:r>
              <a:t>挑战4+5驱动</a:t>
            </a:r>
            <a:br/>
            <a:br/>
            <a:r>
              <a:t>关键能力:</a:t>
            </a:r>
            <a:br/>
            <a:r>
              <a:t>- off-policy IS修正</a:t>
            </a:r>
            <a:br/>
            <a:r>
              <a:t>- 多样性探索</a:t>
            </a:r>
            <a:br/>
            <a:r>
              <a:t>- 步级过程信号</a:t>
            </a:r>
            <a:br/>
            <a:br/>
            <a:r>
              <a:t>技术参考:</a:t>
            </a:r>
            <a:br/>
            <a:r>
              <a:t>Decoupled PPO/DAPO+CISPO</a:t>
            </a:r>
            <a:br/>
            <a:r>
              <a:t>Cursor+Meta SSR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</a:defRPr>
            </a:pPr>
            <a:r>
              <a:t>横切: 数值可信 -- 训推一致性/确定性计算/精度基线/算子自动生成 -- 穿透三层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394960"/>
            <a:ext cx="11612880" cy="118872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Agent 时代的竞争，不在谁的模型更大，而在谁的全栈更顺。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F0020"/>
                </a:solidFill>
              </a:defRPr>
            </a:pPr>
            <a:r>
              <a:t>我们的机会：让 NPU 成为客户做 Agentic RL 后训练的最优选择。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